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dbe320b-583c-1c95-a23c-adf397900942}">
          <p14:sldIdLst>
            <p14:sldId id="256"/>
          </p14:sldIdLst>
        </p14:section>
        <p14:section name="Problem" id="{5f80ee0b-d8ac-a530-e18d-16f27ec78d6f}">
          <p14:sldIdLst>
            <p14:sldId id="257"/>
          </p14:sldIdLst>
        </p14:section>
        <p14:section name="Solution" id="{5a67a463-601e-c019-0da3-c217769f2a8c}">
          <p14:sldIdLst>
            <p14:sldId id="258"/>
          </p14:sldIdLst>
        </p14:section>
        <p14:section name="Architecture" id="{a8a5c049-3b81-631c-5d24-43b624c852c9}">
          <p14:sldIdLst>
            <p14:sldId id="259"/>
            <p14:sldId id="260"/>
          </p14:sldIdLst>
        </p14:section>
        <p14:section name="Demo" id="{8ee20ec4-2ad5-763e-833a-d8bc56323aa0}">
          <p14:sldIdLst>
            <p14:sldId id="261"/>
          </p14:sldIdLst>
        </p14:section>
        <p14:section name="Results" id="{afc9295d-b868-ff9b-87b1-84aa089ead77}">
          <p14:sldIdLst>
            <p14:sldId id="262"/>
          </p14:sldIdLst>
        </p14:section>
        <p14:section name="Close" id="{39b050fb-39f1-4dd8-e8d6-218ee5e514ad}">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41"/>
                </a:solidFill>
                <a:latin typeface="+mn-lt"/>
              </a:defRPr>
            </a:pPr>
            <a:r>
              <a:rPr sz="1200" b="0" i="0" u="none" strike="noStrike">
                <a:solidFill>
                  <a:srgbClr val="1B2A41"/>
                </a:solidFill>
                <a:latin typeface="+mn-lt"/>
              </a:rPr>
              <a:t>Batch of 12 applications, 4 awards available</a:t>
            </a:r>
          </a:p>
        </c:rich>
      </c:tx>
      <c:layout/>
      <c:overlay val="0"/>
    </c:title>
    <c:autoTitleDeleted val="0"/>
    <c:plotArea>
      <c:layout/>
      <c:barChart>
        <c:barDir val="bar"/>
        <c:grouping val="clustered"/>
        <c:varyColors val="0"/>
        <c:ser>
          <c:idx val="0"/>
          <c:order val="0"/>
          <c:tx>
            <c:strRef>
              <c:f>Sheet1!$B$1</c:f>
              <c:strCache>
                <c:ptCount val="1"/>
                <c:pt idx="0">
                  <c:v>Applications</c:v>
                </c:pt>
              </c:strCache>
            </c:strRef>
          </c:tx>
          <c:spPr>
            <a:solidFill>
              <a:srgbClr val="2E7D4F"/>
            </a:solidFill>
            <a:effectLst/>
          </c:spPr>
          <c:invertIfNegative val="0"/>
          <c:dLbls>
            <c:numFmt formatCode="#,##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2E7D4F"/>
              </a:solidFill>
              <a:effectLst/>
            </c:spPr>
          </c:dPt>
          <c:dPt>
            <c:idx val="1"/>
            <c:invertIfNegative val="0"/>
            <c:bubble3D val="0"/>
            <c:spPr>
              <a:solidFill>
                <a:srgbClr val="1B2A41"/>
              </a:solidFill>
              <a:effectLst/>
            </c:spPr>
          </c:dPt>
          <c:dPt>
            <c:idx val="2"/>
            <c:invertIfNegative val="0"/>
            <c:bubble3D val="0"/>
            <c:spPr>
              <a:solidFill>
                <a:srgbClr val="A5640C"/>
              </a:solidFill>
              <a:effectLst/>
            </c:spPr>
          </c:dPt>
          <c:dPt>
            <c:idx val="3"/>
            <c:invertIfNegative val="0"/>
            <c:bubble3D val="0"/>
            <c:spPr>
              <a:solidFill>
                <a:srgbClr val="B3261E"/>
              </a:solidFill>
              <a:effectLst/>
            </c:spPr>
          </c:dPt>
          <c:cat>
            <c:multiLvlStrRef>
              <c:f>Sheet1!$A$2:$A$5</c:f>
              <c:multiLvlStrCache>
                <c:ptCount val="4"/>
                <c:lvl>
                  <c:pt idx="0">
                    <c:v>Awarded</c:v>
                  </c:pt>
                  <c:pt idx="1">
                    <c:v>Waitlisted</c:v>
                  </c:pt>
                  <c:pt idx="2">
                    <c:v>Needs documents</c:v>
                  </c:pt>
                  <c:pt idx="3">
                    <c:v>Not eligible</c:v>
                  </c:pt>
                </c:lvl>
              </c:multiLvlStrCache>
            </c:multiLvlStrRef>
          </c:cat>
          <c:val>
            <c:numRef>
              <c:f>Sheet1!$B$2:$B$5</c:f>
              <c:numCache>
                <c:formatCode>General</c:formatCode>
                <c:ptCount val="4"/>
                <c:pt idx="0">
                  <c:v>4</c:v>
                </c:pt>
                <c:pt idx="1">
                  <c:v>1</c:v>
                </c:pt>
                <c:pt idx="2">
                  <c:v>2</c:v>
                </c:pt>
                <c:pt idx="3">
                  <c:v>5</c:v>
                </c:pt>
              </c:numCache>
            </c:numRef>
          </c:val>
        </c:ser>
        <c:dLbls>
          <c:numFmt formatCode="#,##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Saafalya. My project is the Scholarship Screening Desk, an agentic AI proof of concept in the education domain. It uses six agents to screen scholarship applications the way a college office does, but with every rule checked and every decision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a scholarship office reads each form, opens each attachment, and checks six rules by hand: income, CGPA cutoff by category, attendance, documents, whether the form CGPA matches the marksheet, and whether the student already has a full award. That causes typing errors, uneven decisions, missed mismatches, and no written reason for rejections.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split the work across six agents. The Planner decides which checks apply. The Extractor uses a local Ollama model to read the free-text form and marksheet. The Critic, in amber, independently re-reads the source and sends the case back if a field is wrong. The Validator is the executor: it calls six Python rule tools. The Decision agent gives one of three verdicts and a score. The Reporter writes the reason in plain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architecture. The Streamlit UI passes a case to a Python orchestrator, which runs the agents in order and keeps one shared state per case. The dashed amber loop is the Critic sending the case back to the Extractor. Planner, Extractor and Reporter call Ollama; the Validator calls plain Python tools, one of which checks a JSON awards registry. If Ollama isn't running, a built-in rule model takes over with the same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it agentic rather than a fixed script. Three points of judgment. The Planner picks checks per case. The Critic decides whether to accept the extraction, send it back with notes, or override it. The Decision agent picks one of three outcomes, and in batch mode the orchestrator decides who is awarded and who is waitlisted based on how many awards are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app now. Pick MCM-2026-002, turn on 'Make the Extractor slip once', and press Screen. Point at the trace: the Critic finds a mismatch, the orchestrator sends it back, the Extractor re-reads and the Critic accepts. Then the Validator runs six tools. Five pass, but the form says CGPA 8.40 while the marksheet says 7.70, so it's not eligible. Then switch to the batch tab, set four awards, and screen all twelve.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The twelve synthetic applications each test one rule. All twelve verdicts match my hand-checked labels. With mistakes injected, the Critic caught all twelve and the final verdicts didn't change. And the Critic's second check found zero verdicts that contradict the rule results. I also simulated a wrong Ollama answer in the tests and the send-back loop fixed it. In the batch run, four students are awarded and one is waitlisted.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the data is synthetic and clean, the local model is small, and Render's free tier can't run Ollama, so the hosted link uses the rule model. Next steps would be OCR for scanned documents, rules the office can edit, moving to LangGraph and MCP, and drafting result emails 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app is live on Render and the code is on GitHub.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85216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88920"/>
            <a:ext cx="5486400" cy="822960"/>
          </a:xfrm>
          <a:prstGeom prst="rect">
            <a:avLst/>
          </a:prstGeom>
          <a:noFill/>
          <a:ln/>
        </p:spPr>
        <p:txBody>
          <a:bodyPr wrap="square" rtlCol="0"/>
          <a:lstStyle>
            <a:lvl1pPr algn="l" indent="0" marL="0">
              <a:buNone/>
              <a:defRPr lang="en-US" sz="1600" dirty="0">
                <a:solidFill>
                  <a:srgbClr val="C9D2DE"/>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chemeClr val="tx2"/>
                </a:solidFill>
              </a:rPr>
              <a:t>Scholarship Screening Desk · Saafalya Sengupta · AIML C1</a:t>
            </a:r>
            <a:endParaRPr lang="en-US" sz="9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scholardesk-wpdp.onrender.com" TargetMode="External"/><Relationship Id="rId1" Type="http://schemas.openxmlformats.org/officeDocument/2006/relationships/image" Target="../media/image-6-1.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scholardesk-wpdp.onrender.com" TargetMode="External"/><Relationship Id="rId2" Type="http://schemas.openxmlformats.org/officeDocument/2006/relationships/hyperlink" Target="https://github.com/Saafalya/scholardesk-" TargetMode="External"/><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852160" cy="1463040"/>
          </a:xfrm>
          <a:prstGeom prst="rect">
            <a:avLst/>
          </a:prstGeom>
          <a:noFill/>
          <a:ln/>
        </p:spPr>
        <p:txBody>
          <a:bodyPr wrap="square" lIns="0" tIns="0" rIns="0" bIns="0" rtlCol="0" anchor="t"/>
          <a:lstStyle/>
          <a:p>
            <a:pPr algn="l" indent="0" marL="0">
              <a:buNone/>
            </a:pPr>
            <a:r>
              <a:rPr lang="en-US" sz="4000" b="1" dirty="0">
                <a:solidFill>
                  <a:schemeClr val="bg1"/>
                </a:solidFill>
              </a:rPr>
              <a:t>Scholarship Screening Desk</a:t>
            </a:r>
            <a:endParaRPr lang="en-US" sz="4000" dirty="0"/>
          </a:p>
        </p:txBody>
      </p:sp>
      <p:sp>
        <p:nvSpPr>
          <p:cNvPr id="3" name="Text 0"/>
          <p:cNvSpPr/>
          <p:nvPr>
            <p:ph idx="101" type="body" hasCustomPrompt="1"/>
          </p:nvPr>
        </p:nvSpPr>
        <p:spPr>
          <a:xfrm>
            <a:off x="548640" y="2788920"/>
            <a:ext cx="5486400" cy="822960"/>
          </a:xfrm>
          <a:prstGeom prst="rect">
            <a:avLst/>
          </a:prstGeom>
          <a:noFill/>
          <a:ln/>
        </p:spPr>
        <p:txBody>
          <a:bodyPr wrap="square" lIns="0" tIns="0" rIns="0" bIns="0" rtlCol="0" anchor="t"/>
          <a:lstStyle/>
          <a:p>
            <a:pPr algn="l" indent="0" marL="0">
              <a:buNone/>
            </a:pPr>
            <a:r>
              <a:rPr lang="en-US" sz="1600" dirty="0">
                <a:solidFill>
                  <a:srgbClr val="C9D2DE"/>
                </a:solidFill>
              </a:rPr>
              <a:t>Six AI agents that screen scholarship applications, check every rule and explain each decision</a:t>
            </a:r>
            <a:endParaRPr lang="en-US" sz="1600" dirty="0"/>
          </a:p>
        </p:txBody>
      </p:sp>
      <p:sp>
        <p:nvSpPr>
          <p:cNvPr id="4" name="stamp-outer-ELIGIBLE"/>
          <p:cNvSpPr/>
          <p:nvPr/>
        </p:nvSpPr>
        <p:spPr>
          <a:xfrm rot="-420000">
            <a:off x="6629400" y="1417320"/>
            <a:ext cx="1920240" cy="758952"/>
          </a:xfrm>
          <a:prstGeom prst="roundRect">
            <a:avLst>
              <a:gd name="adj" fmla="val 7229"/>
            </a:avLst>
          </a:prstGeom>
          <a:ln w="28575">
            <a:solidFill>
              <a:srgbClr val="7FC79A"/>
            </a:solidFill>
            <a:prstDash val="solid"/>
          </a:ln>
        </p:spPr>
      </p:sp>
      <p:sp>
        <p:nvSpPr>
          <p:cNvPr id="5" name="stamp-inner-ELIGIBLE"/>
          <p:cNvSpPr/>
          <p:nvPr/>
        </p:nvSpPr>
        <p:spPr>
          <a:xfrm rot="-420000">
            <a:off x="6675120" y="1463040"/>
            <a:ext cx="1828800" cy="667512"/>
          </a:xfrm>
          <a:prstGeom prst="roundRect">
            <a:avLst>
              <a:gd name="adj" fmla="val 5479"/>
            </a:avLst>
          </a:prstGeom>
          <a:ln w="12700">
            <a:solidFill>
              <a:srgbClr val="7FC79A"/>
            </a:solidFill>
            <a:prstDash val="solid"/>
          </a:ln>
        </p:spPr>
      </p:sp>
      <p:sp>
        <p:nvSpPr>
          <p:cNvPr id="6" name="stamp-text-ELIGIBLE"/>
          <p:cNvSpPr txBox="1"/>
          <p:nvPr/>
        </p:nvSpPr>
        <p:spPr>
          <a:xfrm rot="-420000">
            <a:off x="6629400" y="1417320"/>
            <a:ext cx="1920240" cy="758952"/>
          </a:xfrm>
          <a:prstGeom prst="rect">
            <a:avLst/>
          </a:prstGeom>
          <a:noFill/>
          <a:ln/>
        </p:spPr>
        <p:txBody>
          <a:bodyPr wrap="square" lIns="0" tIns="0" rIns="0" bIns="0" rtlCol="0" anchor="ctr"/>
          <a:lstStyle/>
          <a:p>
            <a:pPr algn="ctr" indent="0" marL="0">
              <a:buNone/>
            </a:pPr>
            <a:r>
              <a:rPr lang="en-US" sz="2200" b="1" spc="200" kern="0" dirty="0">
                <a:solidFill>
                  <a:srgbClr val="7FC79A"/>
                </a:solidFill>
                <a:latin typeface="Arial" pitchFamily="34" charset="0"/>
                <a:ea typeface="Arial" pitchFamily="34" charset="-122"/>
                <a:cs typeface="Arial" pitchFamily="34" charset="-120"/>
              </a:rPr>
              <a:t>ELIGIBLE</a:t>
            </a:r>
            <a:endParaRPr lang="en-US" sz="2200" dirty="0"/>
          </a:p>
        </p:txBody>
      </p:sp>
      <p:sp>
        <p:nvSpPr>
          <p:cNvPr id="7" name="byline"/>
          <p:cNvSpPr txBox="1"/>
          <p:nvPr/>
        </p:nvSpPr>
        <p:spPr>
          <a:xfrm>
            <a:off x="548640" y="4069080"/>
            <a:ext cx="5943600" cy="548640"/>
          </a:xfrm>
          <a:prstGeom prst="rect">
            <a:avLst/>
          </a:prstGeom>
          <a:noFill/>
          <a:ln/>
        </p:spPr>
        <p:txBody>
          <a:bodyPr wrap="square" lIns="0" tIns="0" rIns="0" bIns="0" rtlCol="0" anchor="ctr"/>
          <a:lstStyle/>
          <a:p>
            <a:pPr indent="0" marL="0">
              <a:buNone/>
            </a:pPr>
            <a:r>
              <a:rPr lang="en-US" sz="1300" b="1" dirty="0">
                <a:solidFill>
                  <a:srgbClr val="FFFFFF"/>
                </a:solidFill>
              </a:rPr>
              <a:t>Saafalya Sengupta</a:t>
            </a:r>
            <a:endParaRPr lang="en-US" sz="1300" dirty="0"/>
          </a:p>
          <a:p>
            <a:pPr indent="0" marL="0">
              <a:buNone/>
            </a:pPr>
            <a:r>
              <a:rPr lang="en-US" sz="1300" dirty="0">
                <a:solidFill>
                  <a:srgbClr val="C9D2DE"/>
                </a:solidFill>
              </a:rPr>
              <a:t>PRN 24070126158 · AIML C1 · CA-3 Agentic AI PoC</a:t>
            </a:r>
            <a:endParaRPr lang="en-US" sz="1300" dirty="0"/>
          </a:p>
        </p:txBody>
      </p:sp>
      <p:sp>
        <p:nvSpPr>
          <p:cNvPr id="8" name="domain"/>
          <p:cNvSpPr txBox="1"/>
          <p:nvPr/>
        </p:nvSpPr>
        <p:spPr>
          <a:xfrm>
            <a:off x="6629400" y="4206240"/>
            <a:ext cx="2011680" cy="274320"/>
          </a:xfrm>
          <a:prstGeom prst="rect">
            <a:avLst/>
          </a:prstGeom>
          <a:noFill/>
          <a:ln/>
        </p:spPr>
        <p:txBody>
          <a:bodyPr wrap="square" lIns="0" tIns="0" rIns="0" bIns="0" rtlCol="0" anchor="ctr"/>
          <a:lstStyle/>
          <a:p>
            <a:pPr algn="r" indent="0" marL="0">
              <a:buNone/>
            </a:pPr>
            <a:r>
              <a:rPr lang="en-US" sz="1200" dirty="0">
                <a:solidFill>
                  <a:srgbClr val="C9D2DE"/>
                </a:solidFill>
              </a:rPr>
              <a:t>Domain: Education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Screening today is slow, uneven and unexplained</a:t>
            </a:r>
            <a:endParaRPr lang="en-US" sz="2600" dirty="0"/>
          </a:p>
        </p:txBody>
      </p:sp>
      <p:sp>
        <p:nvSpPr>
          <p:cNvPr id="3" name="today"/>
          <p:cNvSpPr txBox="1"/>
          <p:nvPr/>
        </p:nvSpPr>
        <p:spPr>
          <a:xfrm>
            <a:off x="457200" y="1143000"/>
            <a:ext cx="3749040" cy="1828800"/>
          </a:xfrm>
          <a:prstGeom prst="rect">
            <a:avLst/>
          </a:prstGeom>
          <a:noFill/>
          <a:ln/>
        </p:spPr>
        <p:txBody>
          <a:bodyPr wrap="square" lIns="0" tIns="0" rIns="0" bIns="0" rtlCol="0" anchor="t"/>
          <a:lstStyle/>
          <a:p>
            <a:pPr indent="0" marL="0">
              <a:spcAft>
                <a:spcPts val="600"/>
              </a:spcAft>
              <a:buNone/>
            </a:pPr>
            <a:r>
              <a:rPr lang="en-US" sz="1600" b="1" dirty="0">
                <a:solidFill>
                  <a:srgbClr val="000000"/>
                </a:solidFill>
              </a:rPr>
              <a:t>How it works today</a:t>
            </a:r>
            <a:endParaRPr lang="en-US" sz="1600" dirty="0"/>
          </a:p>
          <a:p>
            <a:pPr indent="0" marL="0">
              <a:spcAft>
                <a:spcPts val="600"/>
              </a:spcAft>
              <a:buNone/>
            </a:pPr>
            <a:r>
              <a:rPr lang="en-US" sz="1400" dirty="0">
                <a:solidFill>
                  <a:schemeClr val="tx2"/>
                </a:solidFill>
              </a:rPr>
              <a:t>Students submit a form plus an income certificate, a marksheet and, for reserved categories, a category certificate. Office staff check each application against six rules by hand, then build a shortlist in a spreadsheet.</a:t>
            </a:r>
            <a:endParaRPr lang="en-US" sz="1600" dirty="0"/>
          </a:p>
        </p:txBody>
      </p:sp>
      <p:sp>
        <p:nvSpPr>
          <p:cNvPr id="4" name="statement-bg"/>
          <p:cNvSpPr/>
          <p:nvPr/>
        </p:nvSpPr>
        <p:spPr>
          <a:xfrm>
            <a:off x="457200" y="3108960"/>
            <a:ext cx="3749040" cy="1371600"/>
          </a:xfrm>
          <a:prstGeom prst="roundRect">
            <a:avLst>
              <a:gd name="adj" fmla="val 5333"/>
            </a:avLst>
          </a:prstGeom>
          <a:solidFill>
            <a:schemeClr val="bg2"/>
          </a:solidFill>
          <a:ln/>
        </p:spPr>
      </p:sp>
      <p:sp>
        <p:nvSpPr>
          <p:cNvPr id="5" name="statement"/>
          <p:cNvSpPr txBox="1"/>
          <p:nvPr/>
        </p:nvSpPr>
        <p:spPr>
          <a:xfrm>
            <a:off x="640080" y="3200400"/>
            <a:ext cx="3383280" cy="1188720"/>
          </a:xfrm>
          <a:prstGeom prst="rect">
            <a:avLst/>
          </a:prstGeom>
          <a:noFill/>
          <a:ln/>
        </p:spPr>
        <p:txBody>
          <a:bodyPr wrap="square" lIns="0" tIns="0" rIns="0" bIns="0" rtlCol="0" anchor="t"/>
          <a:lstStyle/>
          <a:p>
            <a:pPr indent="0" marL="0">
              <a:buNone/>
            </a:pPr>
            <a:r>
              <a:rPr lang="en-US" sz="1300" b="1" dirty="0">
                <a:solidFill>
                  <a:srgbClr val="000000"/>
                </a:solidFill>
              </a:rPr>
              <a:t>Problem statement</a:t>
            </a:r>
            <a:endParaRPr lang="en-US" sz="1300" dirty="0"/>
          </a:p>
          <a:p>
            <a:pPr indent="0" marL="0">
              <a:buNone/>
            </a:pPr>
            <a:r>
              <a:rPr lang="en-US" sz="1300" dirty="0">
                <a:solidFill>
                  <a:srgbClr val="000000"/>
                </a:solidFill>
              </a:rPr>
              <a:t>Manual screening is slow, inconsistent between reviewers, misses form-versus-marksheet mismatches, and rarely tells a rejected student why.</a:t>
            </a:r>
            <a:endParaRPr lang="en-US" sz="1300" dirty="0"/>
          </a:p>
        </p:txBody>
      </p:sp>
      <p:sp>
        <p:nvSpPr>
          <p:cNvPr id="6" name="pain-dot-0"/>
          <p:cNvSpPr/>
          <p:nvPr/>
        </p:nvSpPr>
        <p:spPr>
          <a:xfrm>
            <a:off x="4663440" y="1143000"/>
            <a:ext cx="566928" cy="566928"/>
          </a:xfrm>
          <a:prstGeom prst="ellipse">
            <a:avLst/>
          </a:prstGeom>
          <a:solidFill>
            <a:schemeClr val="tx1"/>
          </a:solidFill>
          <a:ln/>
        </p:spPr>
      </p:sp>
      <p:pic>
        <p:nvPicPr>
          <p:cNvPr id="7" name="pain-icon-0" descr="Typing errors">    </p:cNvPr>
          <p:cNvPicPr>
            <a:picLocks noChangeAspect="1"/>
          </p:cNvPicPr>
          <p:nvPr/>
        </p:nvPicPr>
        <p:blipFill>
          <a:blip r:embed="rId1"/>
          <a:stretch>
            <a:fillRect/>
          </a:stretch>
        </p:blipFill>
        <p:spPr>
          <a:xfrm>
            <a:off x="4809744" y="1289304"/>
            <a:ext cx="274320" cy="274320"/>
          </a:xfrm>
          <a:prstGeom prst="rect">
            <a:avLst/>
          </a:prstGeom>
        </p:spPr>
      </p:pic>
      <p:sp>
        <p:nvSpPr>
          <p:cNvPr id="8" name="pain-0"/>
          <p:cNvSpPr txBox="1"/>
          <p:nvPr/>
        </p:nvSpPr>
        <p:spPr>
          <a:xfrm>
            <a:off x="5413248" y="1106424"/>
            <a:ext cx="3291840" cy="658368"/>
          </a:xfrm>
          <a:prstGeom prst="rect">
            <a:avLst/>
          </a:prstGeom>
          <a:noFill/>
          <a:ln/>
        </p:spPr>
        <p:txBody>
          <a:bodyPr wrap="square" lIns="0" tIns="0" rIns="0" bIns="0" rtlCol="0" anchor="ctr"/>
          <a:lstStyle/>
          <a:p>
            <a:pPr indent="0" marL="0">
              <a:buNone/>
            </a:pPr>
            <a:r>
              <a:rPr lang="en-US" sz="1500" b="1" dirty="0">
                <a:solidFill>
                  <a:srgbClr val="000000"/>
                </a:solidFill>
              </a:rPr>
              <a:t>Typing errors</a:t>
            </a:r>
            <a:endParaRPr lang="en-US" sz="1500" dirty="0"/>
          </a:p>
          <a:p>
            <a:pPr indent="0" marL="0">
              <a:buNone/>
            </a:pPr>
            <a:r>
              <a:rPr lang="en-US" sz="1300" dirty="0">
                <a:solidFill>
                  <a:schemeClr val="tx2"/>
                </a:solidFill>
              </a:rPr>
              <a:t>Income and CGPA are re-typed into a sheet by hand</a:t>
            </a:r>
            <a:endParaRPr lang="en-US" sz="1500" dirty="0"/>
          </a:p>
        </p:txBody>
      </p:sp>
      <p:sp>
        <p:nvSpPr>
          <p:cNvPr id="9" name="pain-dot-1"/>
          <p:cNvSpPr/>
          <p:nvPr/>
        </p:nvSpPr>
        <p:spPr>
          <a:xfrm>
            <a:off x="4663440" y="2011680"/>
            <a:ext cx="566928" cy="566928"/>
          </a:xfrm>
          <a:prstGeom prst="ellipse">
            <a:avLst/>
          </a:prstGeom>
          <a:solidFill>
            <a:schemeClr val="tx1"/>
          </a:solidFill>
          <a:ln/>
        </p:spPr>
      </p:sp>
      <p:pic>
        <p:nvPicPr>
          <p:cNvPr id="10" name="pain-icon-1" descr="Uneven rules">    </p:cNvPr>
          <p:cNvPicPr>
            <a:picLocks noChangeAspect="1"/>
          </p:cNvPicPr>
          <p:nvPr/>
        </p:nvPicPr>
        <p:blipFill>
          <a:blip r:embed="rId2"/>
          <a:stretch>
            <a:fillRect/>
          </a:stretch>
        </p:blipFill>
        <p:spPr>
          <a:xfrm>
            <a:off x="4809744" y="2157984"/>
            <a:ext cx="274320" cy="274320"/>
          </a:xfrm>
          <a:prstGeom prst="rect">
            <a:avLst/>
          </a:prstGeom>
        </p:spPr>
      </p:pic>
      <p:sp>
        <p:nvSpPr>
          <p:cNvPr id="11" name="pain-1"/>
          <p:cNvSpPr txBox="1"/>
          <p:nvPr/>
        </p:nvSpPr>
        <p:spPr>
          <a:xfrm>
            <a:off x="5413248" y="1975104"/>
            <a:ext cx="3291840" cy="658368"/>
          </a:xfrm>
          <a:prstGeom prst="rect">
            <a:avLst/>
          </a:prstGeom>
          <a:noFill/>
          <a:ln/>
        </p:spPr>
        <p:txBody>
          <a:bodyPr wrap="square" lIns="0" tIns="0" rIns="0" bIns="0" rtlCol="0" anchor="ctr"/>
          <a:lstStyle/>
          <a:p>
            <a:pPr indent="0" marL="0">
              <a:buNone/>
            </a:pPr>
            <a:r>
              <a:rPr lang="en-US" sz="1500" b="1" dirty="0">
                <a:solidFill>
                  <a:srgbClr val="000000"/>
                </a:solidFill>
              </a:rPr>
              <a:t>Uneven rules</a:t>
            </a:r>
            <a:endParaRPr lang="en-US" sz="1500" dirty="0"/>
          </a:p>
          <a:p>
            <a:pPr indent="0" marL="0">
              <a:buNone/>
            </a:pPr>
            <a:r>
              <a:rPr lang="en-US" sz="1300" dirty="0">
                <a:solidFill>
                  <a:schemeClr val="tx2"/>
                </a:solidFill>
              </a:rPr>
              <a:t>Two reviewers can read the same cutoff differently</a:t>
            </a:r>
            <a:endParaRPr lang="en-US" sz="1500" dirty="0"/>
          </a:p>
        </p:txBody>
      </p:sp>
      <p:sp>
        <p:nvSpPr>
          <p:cNvPr id="12" name="pain-dot-2"/>
          <p:cNvSpPr/>
          <p:nvPr/>
        </p:nvSpPr>
        <p:spPr>
          <a:xfrm>
            <a:off x="4663440" y="2880360"/>
            <a:ext cx="566928" cy="566928"/>
          </a:xfrm>
          <a:prstGeom prst="ellipse">
            <a:avLst/>
          </a:prstGeom>
          <a:solidFill>
            <a:schemeClr val="tx1"/>
          </a:solidFill>
          <a:ln/>
        </p:spPr>
      </p:sp>
      <p:pic>
        <p:nvPicPr>
          <p:cNvPr id="13" name="pain-icon-2" descr="Mismatches slip through">    </p:cNvPr>
          <p:cNvPicPr>
            <a:picLocks noChangeAspect="1"/>
          </p:cNvPicPr>
          <p:nvPr/>
        </p:nvPicPr>
        <p:blipFill>
          <a:blip r:embed="rId3"/>
          <a:stretch>
            <a:fillRect/>
          </a:stretch>
        </p:blipFill>
        <p:spPr>
          <a:xfrm>
            <a:off x="4809744" y="3026664"/>
            <a:ext cx="274320" cy="274320"/>
          </a:xfrm>
          <a:prstGeom prst="rect">
            <a:avLst/>
          </a:prstGeom>
        </p:spPr>
      </p:pic>
      <p:sp>
        <p:nvSpPr>
          <p:cNvPr id="14" name="pain-2"/>
          <p:cNvSpPr txBox="1"/>
          <p:nvPr/>
        </p:nvSpPr>
        <p:spPr>
          <a:xfrm>
            <a:off x="5413248" y="2843784"/>
            <a:ext cx="3291840" cy="658368"/>
          </a:xfrm>
          <a:prstGeom prst="rect">
            <a:avLst/>
          </a:prstGeom>
          <a:noFill/>
          <a:ln/>
        </p:spPr>
        <p:txBody>
          <a:bodyPr wrap="square" lIns="0" tIns="0" rIns="0" bIns="0" rtlCol="0" anchor="ctr"/>
          <a:lstStyle/>
          <a:p>
            <a:pPr indent="0" marL="0">
              <a:buNone/>
            </a:pPr>
            <a:r>
              <a:rPr lang="en-US" sz="1500" b="1" dirty="0">
                <a:solidFill>
                  <a:srgbClr val="000000"/>
                </a:solidFill>
              </a:rPr>
              <a:t>Mismatches slip through</a:t>
            </a:r>
            <a:endParaRPr lang="en-US" sz="1500" dirty="0"/>
          </a:p>
          <a:p>
            <a:pPr indent="0" marL="0">
              <a:buNone/>
            </a:pPr>
            <a:r>
              <a:rPr lang="en-US" sz="1300" dirty="0">
                <a:solidFill>
                  <a:schemeClr val="tx2"/>
                </a:solidFill>
              </a:rPr>
              <a:t>Inflated CGPA on the form is rarely cross-checked</a:t>
            </a:r>
            <a:endParaRPr lang="en-US" sz="1500" dirty="0"/>
          </a:p>
        </p:txBody>
      </p:sp>
      <p:sp>
        <p:nvSpPr>
          <p:cNvPr id="15" name="pain-dot-3"/>
          <p:cNvSpPr/>
          <p:nvPr/>
        </p:nvSpPr>
        <p:spPr>
          <a:xfrm>
            <a:off x="4663440" y="3749040"/>
            <a:ext cx="566928" cy="566928"/>
          </a:xfrm>
          <a:prstGeom prst="ellipse">
            <a:avLst/>
          </a:prstGeom>
          <a:solidFill>
            <a:schemeClr val="tx1"/>
          </a:solidFill>
          <a:ln/>
        </p:spPr>
      </p:sp>
      <p:pic>
        <p:nvPicPr>
          <p:cNvPr id="16" name="pain-icon-3" descr="No reasons">    </p:cNvPr>
          <p:cNvPicPr>
            <a:picLocks noChangeAspect="1"/>
          </p:cNvPicPr>
          <p:nvPr/>
        </p:nvPicPr>
        <p:blipFill>
          <a:blip r:embed="rId4"/>
          <a:stretch>
            <a:fillRect/>
          </a:stretch>
        </p:blipFill>
        <p:spPr>
          <a:xfrm>
            <a:off x="4809744" y="3895344"/>
            <a:ext cx="274320" cy="274320"/>
          </a:xfrm>
          <a:prstGeom prst="rect">
            <a:avLst/>
          </a:prstGeom>
        </p:spPr>
      </p:pic>
      <p:sp>
        <p:nvSpPr>
          <p:cNvPr id="17" name="pain-3"/>
          <p:cNvSpPr txBox="1"/>
          <p:nvPr/>
        </p:nvSpPr>
        <p:spPr>
          <a:xfrm>
            <a:off x="5413248" y="3712464"/>
            <a:ext cx="3291840" cy="658368"/>
          </a:xfrm>
          <a:prstGeom prst="rect">
            <a:avLst/>
          </a:prstGeom>
          <a:noFill/>
          <a:ln/>
        </p:spPr>
        <p:txBody>
          <a:bodyPr wrap="square" lIns="0" tIns="0" rIns="0" bIns="0" rtlCol="0" anchor="ctr"/>
          <a:lstStyle/>
          <a:p>
            <a:pPr indent="0" marL="0">
              <a:buNone/>
            </a:pPr>
            <a:r>
              <a:rPr lang="en-US" sz="1500" b="1" dirty="0">
                <a:solidFill>
                  <a:srgbClr val="000000"/>
                </a:solidFill>
              </a:rPr>
              <a:t>No reasons</a:t>
            </a:r>
            <a:endParaRPr lang="en-US" sz="1500" dirty="0"/>
          </a:p>
          <a:p>
            <a:pPr indent="0" marL="0">
              <a:buNone/>
            </a:pPr>
            <a:r>
              <a:rPr lang="en-US" sz="1300" dirty="0">
                <a:solidFill>
                  <a:schemeClr val="tx2"/>
                </a:solidFill>
              </a:rPr>
              <a:t>Rejected students rarely learn which rule they failed</a:t>
            </a:r>
            <a:endParaRPr lang="en-US" sz="15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Six agents split the job the way an office would</a:t>
            </a:r>
            <a:endParaRPr lang="en-US" sz="2600" dirty="0"/>
          </a:p>
        </p:txBody>
      </p:sp>
      <p:sp>
        <p:nvSpPr>
          <p:cNvPr id="3" name="agent-card-Planner"/>
          <p:cNvSpPr/>
          <p:nvPr/>
        </p:nvSpPr>
        <p:spPr>
          <a:xfrm>
            <a:off x="457200" y="1097280"/>
            <a:ext cx="2606040" cy="1600200"/>
          </a:xfrm>
          <a:prstGeom prst="roundRect">
            <a:avLst>
              <a:gd name="adj" fmla="val 4571"/>
            </a:avLst>
          </a:prstGeom>
          <a:solidFill>
            <a:srgbClr val="EEF1F5"/>
          </a:solidFill>
          <a:ln w="12700">
            <a:solidFill>
              <a:srgbClr val="EEF1F5"/>
            </a:solidFill>
            <a:prstDash val="solid"/>
          </a:ln>
        </p:spPr>
      </p:sp>
      <p:sp>
        <p:nvSpPr>
          <p:cNvPr id="4" name="agent-dot-Planner"/>
          <p:cNvSpPr/>
          <p:nvPr/>
        </p:nvSpPr>
        <p:spPr>
          <a:xfrm>
            <a:off x="640080" y="1280160"/>
            <a:ext cx="457200" cy="457200"/>
          </a:xfrm>
          <a:prstGeom prst="ellipse">
            <a:avLst/>
          </a:prstGeom>
          <a:solidFill>
            <a:schemeClr val="tx1"/>
          </a:solidFill>
          <a:ln/>
        </p:spPr>
      </p:sp>
      <p:pic>
        <p:nvPicPr>
          <p:cNvPr id="5" name="agent-icon-Planner" descr="Planner">    </p:cNvPr>
          <p:cNvPicPr>
            <a:picLocks noChangeAspect="1"/>
          </p:cNvPicPr>
          <p:nvPr/>
        </p:nvPicPr>
        <p:blipFill>
          <a:blip r:embed="rId1"/>
          <a:stretch>
            <a:fillRect/>
          </a:stretch>
        </p:blipFill>
        <p:spPr>
          <a:xfrm>
            <a:off x="758952" y="1399032"/>
            <a:ext cx="219456" cy="219456"/>
          </a:xfrm>
          <a:prstGeom prst="rect">
            <a:avLst/>
          </a:prstGeom>
        </p:spPr>
      </p:pic>
      <p:sp>
        <p:nvSpPr>
          <p:cNvPr id="6" name="agent-name-Planner"/>
          <p:cNvSpPr txBox="1"/>
          <p:nvPr/>
        </p:nvSpPr>
        <p:spPr>
          <a:xfrm>
            <a:off x="1207008" y="1280160"/>
            <a:ext cx="1188720" cy="457200"/>
          </a:xfrm>
          <a:prstGeom prst="rect">
            <a:avLst/>
          </a:prstGeom>
          <a:noFill/>
          <a:ln/>
        </p:spPr>
        <p:txBody>
          <a:bodyPr wrap="square" lIns="0" tIns="0" rIns="0" bIns="0" rtlCol="0" anchor="ctr"/>
          <a:lstStyle/>
          <a:p>
            <a:pPr indent="0" marL="0">
              <a:buNone/>
            </a:pPr>
            <a:r>
              <a:rPr lang="en-US" sz="1600" b="1" dirty="0">
                <a:solidFill>
                  <a:srgbClr val="000000"/>
                </a:solidFill>
              </a:rPr>
              <a:t>Planner</a:t>
            </a:r>
            <a:endParaRPr lang="en-US" sz="1600" dirty="0"/>
          </a:p>
        </p:txBody>
      </p:sp>
      <p:sp>
        <p:nvSpPr>
          <p:cNvPr id="7" name="agent-engine-Planner"/>
          <p:cNvSpPr txBox="1"/>
          <p:nvPr/>
        </p:nvSpPr>
        <p:spPr>
          <a:xfrm>
            <a:off x="2240280" y="1371600"/>
            <a:ext cx="685800" cy="274320"/>
          </a:xfrm>
          <a:prstGeom prst="rect">
            <a:avLst/>
          </a:prstGeom>
          <a:noFill/>
          <a:ln/>
        </p:spPr>
        <p:txBody>
          <a:bodyPr wrap="square" lIns="0" tIns="0" rIns="0" bIns="0" rtlCol="0" anchor="ctr"/>
          <a:lstStyle/>
          <a:p>
            <a:pPr algn="r" indent="0" marL="0">
              <a:buNone/>
            </a:pPr>
            <a:r>
              <a:rPr lang="en-US" sz="1000" dirty="0">
                <a:solidFill>
                  <a:schemeClr val="tx2"/>
                </a:solidFill>
              </a:rPr>
              <a:t>Ollama</a:t>
            </a:r>
            <a:endParaRPr lang="en-US" sz="1000" dirty="0"/>
          </a:p>
        </p:txBody>
      </p:sp>
      <p:sp>
        <p:nvSpPr>
          <p:cNvPr id="8" name="agent-job-Planner"/>
          <p:cNvSpPr txBox="1"/>
          <p:nvPr/>
        </p:nvSpPr>
        <p:spPr>
          <a:xfrm>
            <a:off x="640080" y="1847088"/>
            <a:ext cx="2240280" cy="749808"/>
          </a:xfrm>
          <a:prstGeom prst="rect">
            <a:avLst/>
          </a:prstGeom>
          <a:noFill/>
          <a:ln/>
        </p:spPr>
        <p:txBody>
          <a:bodyPr wrap="square" lIns="0" tIns="0" rIns="0" bIns="0" rtlCol="0" anchor="t"/>
          <a:lstStyle/>
          <a:p>
            <a:pPr indent="0" marL="0">
              <a:buNone/>
            </a:pPr>
            <a:r>
              <a:rPr lang="en-US" sz="1300" dirty="0">
                <a:solidFill>
                  <a:schemeClr val="tx1"/>
                </a:solidFill>
              </a:rPr>
              <a:t>Decides which checks apply, such as relaxed cutoffs for reserved categories</a:t>
            </a:r>
            <a:endParaRPr lang="en-US" sz="1300" dirty="0"/>
          </a:p>
        </p:txBody>
      </p:sp>
      <p:sp>
        <p:nvSpPr>
          <p:cNvPr id="9" name="agent-card-Extractor"/>
          <p:cNvSpPr/>
          <p:nvPr/>
        </p:nvSpPr>
        <p:spPr>
          <a:xfrm>
            <a:off x="3246120" y="1097280"/>
            <a:ext cx="2606040" cy="1600200"/>
          </a:xfrm>
          <a:prstGeom prst="roundRect">
            <a:avLst>
              <a:gd name="adj" fmla="val 4571"/>
            </a:avLst>
          </a:prstGeom>
          <a:solidFill>
            <a:srgbClr val="EEF1F5"/>
          </a:solidFill>
          <a:ln w="12700">
            <a:solidFill>
              <a:srgbClr val="EEF1F5"/>
            </a:solidFill>
            <a:prstDash val="solid"/>
          </a:ln>
        </p:spPr>
      </p:sp>
      <p:sp>
        <p:nvSpPr>
          <p:cNvPr id="10" name="agent-dot-Extractor"/>
          <p:cNvSpPr/>
          <p:nvPr/>
        </p:nvSpPr>
        <p:spPr>
          <a:xfrm>
            <a:off x="3429000" y="1280160"/>
            <a:ext cx="457200" cy="457200"/>
          </a:xfrm>
          <a:prstGeom prst="ellipse">
            <a:avLst/>
          </a:prstGeom>
          <a:solidFill>
            <a:schemeClr val="tx1"/>
          </a:solidFill>
          <a:ln/>
        </p:spPr>
      </p:sp>
      <p:pic>
        <p:nvPicPr>
          <p:cNvPr id="11" name="agent-icon-Extractor" descr="Extractor">    </p:cNvPr>
          <p:cNvPicPr>
            <a:picLocks noChangeAspect="1"/>
          </p:cNvPicPr>
          <p:nvPr/>
        </p:nvPicPr>
        <p:blipFill>
          <a:blip r:embed="rId2"/>
          <a:stretch>
            <a:fillRect/>
          </a:stretch>
        </p:blipFill>
        <p:spPr>
          <a:xfrm>
            <a:off x="3547872" y="1399032"/>
            <a:ext cx="219456" cy="219456"/>
          </a:xfrm>
          <a:prstGeom prst="rect">
            <a:avLst/>
          </a:prstGeom>
        </p:spPr>
      </p:pic>
      <p:sp>
        <p:nvSpPr>
          <p:cNvPr id="12" name="agent-name-Extractor"/>
          <p:cNvSpPr txBox="1"/>
          <p:nvPr/>
        </p:nvSpPr>
        <p:spPr>
          <a:xfrm>
            <a:off x="3995928" y="1280160"/>
            <a:ext cx="1188720" cy="457200"/>
          </a:xfrm>
          <a:prstGeom prst="rect">
            <a:avLst/>
          </a:prstGeom>
          <a:noFill/>
          <a:ln/>
        </p:spPr>
        <p:txBody>
          <a:bodyPr wrap="square" lIns="0" tIns="0" rIns="0" bIns="0" rtlCol="0" anchor="ctr"/>
          <a:lstStyle/>
          <a:p>
            <a:pPr indent="0" marL="0">
              <a:buNone/>
            </a:pPr>
            <a:r>
              <a:rPr lang="en-US" sz="1600" b="1" dirty="0">
                <a:solidFill>
                  <a:srgbClr val="000000"/>
                </a:solidFill>
              </a:rPr>
              <a:t>Extractor</a:t>
            </a:r>
            <a:endParaRPr lang="en-US" sz="1600" dirty="0"/>
          </a:p>
        </p:txBody>
      </p:sp>
      <p:sp>
        <p:nvSpPr>
          <p:cNvPr id="13" name="agent-engine-Extractor"/>
          <p:cNvSpPr txBox="1"/>
          <p:nvPr/>
        </p:nvSpPr>
        <p:spPr>
          <a:xfrm>
            <a:off x="5029200" y="1371600"/>
            <a:ext cx="685800" cy="274320"/>
          </a:xfrm>
          <a:prstGeom prst="rect">
            <a:avLst/>
          </a:prstGeom>
          <a:noFill/>
          <a:ln/>
        </p:spPr>
        <p:txBody>
          <a:bodyPr wrap="square" lIns="0" tIns="0" rIns="0" bIns="0" rtlCol="0" anchor="ctr"/>
          <a:lstStyle/>
          <a:p>
            <a:pPr algn="r" indent="0" marL="0">
              <a:buNone/>
            </a:pPr>
            <a:r>
              <a:rPr lang="en-US" sz="1000" dirty="0">
                <a:solidFill>
                  <a:schemeClr val="tx2"/>
                </a:solidFill>
              </a:rPr>
              <a:t>Ollama</a:t>
            </a:r>
            <a:endParaRPr lang="en-US" sz="1000" dirty="0"/>
          </a:p>
        </p:txBody>
      </p:sp>
      <p:sp>
        <p:nvSpPr>
          <p:cNvPr id="14" name="agent-job-Extractor"/>
          <p:cNvSpPr txBox="1"/>
          <p:nvPr/>
        </p:nvSpPr>
        <p:spPr>
          <a:xfrm>
            <a:off x="3429000" y="1847088"/>
            <a:ext cx="2240280" cy="749808"/>
          </a:xfrm>
          <a:prstGeom prst="rect">
            <a:avLst/>
          </a:prstGeom>
          <a:noFill/>
          <a:ln/>
        </p:spPr>
        <p:txBody>
          <a:bodyPr wrap="square" lIns="0" tIns="0" rIns="0" bIns="0" rtlCol="0" anchor="t"/>
          <a:lstStyle/>
          <a:p>
            <a:pPr indent="0" marL="0">
              <a:buNone/>
            </a:pPr>
            <a:r>
              <a:rPr lang="en-US" sz="1300" dirty="0">
                <a:solidFill>
                  <a:schemeClr val="tx1"/>
                </a:solidFill>
              </a:rPr>
              <a:t>Pulls income, CGPA, attendance and other fields from free text</a:t>
            </a:r>
            <a:endParaRPr lang="en-US" sz="1300" dirty="0"/>
          </a:p>
        </p:txBody>
      </p:sp>
      <p:sp>
        <p:nvSpPr>
          <p:cNvPr id="15" name="agent-card-Critic"/>
          <p:cNvSpPr/>
          <p:nvPr/>
        </p:nvSpPr>
        <p:spPr>
          <a:xfrm>
            <a:off x="6035040" y="1097280"/>
            <a:ext cx="2606040" cy="1600200"/>
          </a:xfrm>
          <a:prstGeom prst="roundRect">
            <a:avLst>
              <a:gd name="adj" fmla="val 4571"/>
            </a:avLst>
          </a:prstGeom>
          <a:solidFill>
            <a:srgbClr val="FFF6E8"/>
          </a:solidFill>
          <a:ln w="12700">
            <a:solidFill>
              <a:srgbClr val="A5640C"/>
            </a:solidFill>
            <a:prstDash val="solid"/>
          </a:ln>
        </p:spPr>
      </p:sp>
      <p:sp>
        <p:nvSpPr>
          <p:cNvPr id="16" name="agent-dot-Critic"/>
          <p:cNvSpPr/>
          <p:nvPr/>
        </p:nvSpPr>
        <p:spPr>
          <a:xfrm>
            <a:off x="6217920" y="1280160"/>
            <a:ext cx="457200" cy="457200"/>
          </a:xfrm>
          <a:prstGeom prst="ellipse">
            <a:avLst/>
          </a:prstGeom>
          <a:solidFill>
            <a:schemeClr val="accent4"/>
          </a:solidFill>
          <a:ln/>
        </p:spPr>
      </p:sp>
      <p:pic>
        <p:nvPicPr>
          <p:cNvPr id="17" name="agent-icon-Critic" descr="Critic">    </p:cNvPr>
          <p:cNvPicPr>
            <a:picLocks noChangeAspect="1"/>
          </p:cNvPicPr>
          <p:nvPr/>
        </p:nvPicPr>
        <p:blipFill>
          <a:blip r:embed="rId3"/>
          <a:stretch>
            <a:fillRect/>
          </a:stretch>
        </p:blipFill>
        <p:spPr>
          <a:xfrm>
            <a:off x="6336792" y="1399032"/>
            <a:ext cx="219456" cy="219456"/>
          </a:xfrm>
          <a:prstGeom prst="rect">
            <a:avLst/>
          </a:prstGeom>
        </p:spPr>
      </p:pic>
      <p:sp>
        <p:nvSpPr>
          <p:cNvPr id="18" name="agent-name-Critic"/>
          <p:cNvSpPr txBox="1"/>
          <p:nvPr/>
        </p:nvSpPr>
        <p:spPr>
          <a:xfrm>
            <a:off x="6784848" y="1280160"/>
            <a:ext cx="1188720" cy="457200"/>
          </a:xfrm>
          <a:prstGeom prst="rect">
            <a:avLst/>
          </a:prstGeom>
          <a:noFill/>
          <a:ln/>
        </p:spPr>
        <p:txBody>
          <a:bodyPr wrap="square" lIns="0" tIns="0" rIns="0" bIns="0" rtlCol="0" anchor="ctr"/>
          <a:lstStyle/>
          <a:p>
            <a:pPr indent="0" marL="0">
              <a:buNone/>
            </a:pPr>
            <a:r>
              <a:rPr lang="en-US" sz="1600" b="1" dirty="0">
                <a:solidFill>
                  <a:srgbClr val="000000"/>
                </a:solidFill>
              </a:rPr>
              <a:t>Critic</a:t>
            </a:r>
            <a:endParaRPr lang="en-US" sz="1600" dirty="0"/>
          </a:p>
        </p:txBody>
      </p:sp>
      <p:sp>
        <p:nvSpPr>
          <p:cNvPr id="19" name="agent-engine-Critic"/>
          <p:cNvSpPr txBox="1"/>
          <p:nvPr/>
        </p:nvSpPr>
        <p:spPr>
          <a:xfrm>
            <a:off x="7818120" y="1371600"/>
            <a:ext cx="685800" cy="274320"/>
          </a:xfrm>
          <a:prstGeom prst="rect">
            <a:avLst/>
          </a:prstGeom>
          <a:noFill/>
          <a:ln/>
        </p:spPr>
        <p:txBody>
          <a:bodyPr wrap="square" lIns="0" tIns="0" rIns="0" bIns="0" rtlCol="0" anchor="ctr"/>
          <a:lstStyle/>
          <a:p>
            <a:pPr algn="r" indent="0" marL="0">
              <a:buNone/>
            </a:pPr>
            <a:r>
              <a:rPr lang="en-US" sz="1000" dirty="0">
                <a:solidFill>
                  <a:schemeClr val="tx2"/>
                </a:solidFill>
              </a:rPr>
              <a:t>Python</a:t>
            </a:r>
            <a:endParaRPr lang="en-US" sz="1000" dirty="0"/>
          </a:p>
        </p:txBody>
      </p:sp>
      <p:sp>
        <p:nvSpPr>
          <p:cNvPr id="20" name="agent-job-Critic"/>
          <p:cNvSpPr txBox="1"/>
          <p:nvPr/>
        </p:nvSpPr>
        <p:spPr>
          <a:xfrm>
            <a:off x="6217920" y="1847088"/>
            <a:ext cx="2240280" cy="749808"/>
          </a:xfrm>
          <a:prstGeom prst="rect">
            <a:avLst/>
          </a:prstGeom>
          <a:noFill/>
          <a:ln/>
        </p:spPr>
        <p:txBody>
          <a:bodyPr wrap="square" lIns="0" tIns="0" rIns="0" bIns="0" rtlCol="0" anchor="t"/>
          <a:lstStyle/>
          <a:p>
            <a:pPr indent="0" marL="0">
              <a:buNone/>
            </a:pPr>
            <a:r>
              <a:rPr lang="en-US" sz="1300" dirty="0">
                <a:solidFill>
                  <a:schemeClr val="tx1"/>
                </a:solidFill>
              </a:rPr>
              <a:t>Re-reads the source, sends wrong extractions back, checks the final verdict</a:t>
            </a:r>
            <a:endParaRPr lang="en-US" sz="1300" dirty="0"/>
          </a:p>
        </p:txBody>
      </p:sp>
      <p:sp>
        <p:nvSpPr>
          <p:cNvPr id="21" name="agent-card-Validator"/>
          <p:cNvSpPr/>
          <p:nvPr/>
        </p:nvSpPr>
        <p:spPr>
          <a:xfrm>
            <a:off x="457200" y="2880360"/>
            <a:ext cx="2606040" cy="1600200"/>
          </a:xfrm>
          <a:prstGeom prst="roundRect">
            <a:avLst>
              <a:gd name="adj" fmla="val 4571"/>
            </a:avLst>
          </a:prstGeom>
          <a:solidFill>
            <a:srgbClr val="EEF1F5"/>
          </a:solidFill>
          <a:ln w="12700">
            <a:solidFill>
              <a:srgbClr val="EEF1F5"/>
            </a:solidFill>
            <a:prstDash val="solid"/>
          </a:ln>
        </p:spPr>
      </p:sp>
      <p:sp>
        <p:nvSpPr>
          <p:cNvPr id="22" name="agent-dot-Validator"/>
          <p:cNvSpPr/>
          <p:nvPr/>
        </p:nvSpPr>
        <p:spPr>
          <a:xfrm>
            <a:off x="640080" y="3063240"/>
            <a:ext cx="457200" cy="457200"/>
          </a:xfrm>
          <a:prstGeom prst="ellipse">
            <a:avLst/>
          </a:prstGeom>
          <a:solidFill>
            <a:schemeClr val="tx1"/>
          </a:solidFill>
          <a:ln/>
        </p:spPr>
      </p:sp>
      <p:pic>
        <p:nvPicPr>
          <p:cNvPr id="23" name="agent-icon-Validator" descr="Validator">    </p:cNvPr>
          <p:cNvPicPr>
            <a:picLocks noChangeAspect="1"/>
          </p:cNvPicPr>
          <p:nvPr/>
        </p:nvPicPr>
        <p:blipFill>
          <a:blip r:embed="rId4"/>
          <a:stretch>
            <a:fillRect/>
          </a:stretch>
        </p:blipFill>
        <p:spPr>
          <a:xfrm>
            <a:off x="758952" y="3182112"/>
            <a:ext cx="219456" cy="219456"/>
          </a:xfrm>
          <a:prstGeom prst="rect">
            <a:avLst/>
          </a:prstGeom>
        </p:spPr>
      </p:pic>
      <p:sp>
        <p:nvSpPr>
          <p:cNvPr id="24" name="agent-name-Validator"/>
          <p:cNvSpPr txBox="1"/>
          <p:nvPr/>
        </p:nvSpPr>
        <p:spPr>
          <a:xfrm>
            <a:off x="1207008" y="3063240"/>
            <a:ext cx="1188720" cy="457200"/>
          </a:xfrm>
          <a:prstGeom prst="rect">
            <a:avLst/>
          </a:prstGeom>
          <a:noFill/>
          <a:ln/>
        </p:spPr>
        <p:txBody>
          <a:bodyPr wrap="square" lIns="0" tIns="0" rIns="0" bIns="0" rtlCol="0" anchor="ctr"/>
          <a:lstStyle/>
          <a:p>
            <a:pPr indent="0" marL="0">
              <a:buNone/>
            </a:pPr>
            <a:r>
              <a:rPr lang="en-US" sz="1600" b="1" dirty="0">
                <a:solidFill>
                  <a:srgbClr val="000000"/>
                </a:solidFill>
              </a:rPr>
              <a:t>Validator</a:t>
            </a:r>
            <a:endParaRPr lang="en-US" sz="1600" dirty="0"/>
          </a:p>
        </p:txBody>
      </p:sp>
      <p:sp>
        <p:nvSpPr>
          <p:cNvPr id="25" name="agent-engine-Validator"/>
          <p:cNvSpPr txBox="1"/>
          <p:nvPr/>
        </p:nvSpPr>
        <p:spPr>
          <a:xfrm>
            <a:off x="2240280" y="3154680"/>
            <a:ext cx="685800" cy="274320"/>
          </a:xfrm>
          <a:prstGeom prst="rect">
            <a:avLst/>
          </a:prstGeom>
          <a:noFill/>
          <a:ln/>
        </p:spPr>
        <p:txBody>
          <a:bodyPr wrap="square" lIns="0" tIns="0" rIns="0" bIns="0" rtlCol="0" anchor="ctr"/>
          <a:lstStyle/>
          <a:p>
            <a:pPr algn="r" indent="0" marL="0">
              <a:buNone/>
            </a:pPr>
            <a:r>
              <a:rPr lang="en-US" sz="1000" dirty="0">
                <a:solidFill>
                  <a:schemeClr val="tx2"/>
                </a:solidFill>
              </a:rPr>
              <a:t>Python</a:t>
            </a:r>
            <a:endParaRPr lang="en-US" sz="1000" dirty="0"/>
          </a:p>
        </p:txBody>
      </p:sp>
      <p:sp>
        <p:nvSpPr>
          <p:cNvPr id="26" name="agent-job-Validator"/>
          <p:cNvSpPr txBox="1"/>
          <p:nvPr/>
        </p:nvSpPr>
        <p:spPr>
          <a:xfrm>
            <a:off x="640080" y="3630168"/>
            <a:ext cx="2240280" cy="749808"/>
          </a:xfrm>
          <a:prstGeom prst="rect">
            <a:avLst/>
          </a:prstGeom>
          <a:noFill/>
          <a:ln/>
        </p:spPr>
        <p:txBody>
          <a:bodyPr wrap="square" lIns="0" tIns="0" rIns="0" bIns="0" rtlCol="0" anchor="t"/>
          <a:lstStyle/>
          <a:p>
            <a:pPr indent="0" marL="0">
              <a:buNone/>
            </a:pPr>
            <a:r>
              <a:rPr lang="en-US" sz="1300" dirty="0">
                <a:solidFill>
                  <a:schemeClr val="tx1"/>
                </a:solidFill>
              </a:rPr>
              <a:t>Executor: runs six rule checks as Python tool calls</a:t>
            </a:r>
            <a:endParaRPr lang="en-US" sz="1300" dirty="0"/>
          </a:p>
        </p:txBody>
      </p:sp>
      <p:sp>
        <p:nvSpPr>
          <p:cNvPr id="27" name="agent-card-Decision"/>
          <p:cNvSpPr/>
          <p:nvPr/>
        </p:nvSpPr>
        <p:spPr>
          <a:xfrm>
            <a:off x="3246120" y="2880360"/>
            <a:ext cx="2606040" cy="1600200"/>
          </a:xfrm>
          <a:prstGeom prst="roundRect">
            <a:avLst>
              <a:gd name="adj" fmla="val 4571"/>
            </a:avLst>
          </a:prstGeom>
          <a:solidFill>
            <a:srgbClr val="EEF1F5"/>
          </a:solidFill>
          <a:ln w="12700">
            <a:solidFill>
              <a:srgbClr val="EEF1F5"/>
            </a:solidFill>
            <a:prstDash val="solid"/>
          </a:ln>
        </p:spPr>
      </p:sp>
      <p:sp>
        <p:nvSpPr>
          <p:cNvPr id="28" name="agent-dot-Decision"/>
          <p:cNvSpPr/>
          <p:nvPr/>
        </p:nvSpPr>
        <p:spPr>
          <a:xfrm>
            <a:off x="3429000" y="3063240"/>
            <a:ext cx="457200" cy="457200"/>
          </a:xfrm>
          <a:prstGeom prst="ellipse">
            <a:avLst/>
          </a:prstGeom>
          <a:solidFill>
            <a:schemeClr val="tx1"/>
          </a:solidFill>
          <a:ln/>
        </p:spPr>
      </p:sp>
      <p:pic>
        <p:nvPicPr>
          <p:cNvPr id="29" name="agent-icon-Decision" descr="Decision">    </p:cNvPr>
          <p:cNvPicPr>
            <a:picLocks noChangeAspect="1"/>
          </p:cNvPicPr>
          <p:nvPr/>
        </p:nvPicPr>
        <p:blipFill>
          <a:blip r:embed="rId5"/>
          <a:stretch>
            <a:fillRect/>
          </a:stretch>
        </p:blipFill>
        <p:spPr>
          <a:xfrm>
            <a:off x="3547872" y="3182112"/>
            <a:ext cx="219456" cy="219456"/>
          </a:xfrm>
          <a:prstGeom prst="rect">
            <a:avLst/>
          </a:prstGeom>
        </p:spPr>
      </p:pic>
      <p:sp>
        <p:nvSpPr>
          <p:cNvPr id="30" name="agent-name-Decision"/>
          <p:cNvSpPr txBox="1"/>
          <p:nvPr/>
        </p:nvSpPr>
        <p:spPr>
          <a:xfrm>
            <a:off x="3995928" y="3063240"/>
            <a:ext cx="1188720" cy="457200"/>
          </a:xfrm>
          <a:prstGeom prst="rect">
            <a:avLst/>
          </a:prstGeom>
          <a:noFill/>
          <a:ln/>
        </p:spPr>
        <p:txBody>
          <a:bodyPr wrap="square" lIns="0" tIns="0" rIns="0" bIns="0" rtlCol="0" anchor="ctr"/>
          <a:lstStyle/>
          <a:p>
            <a:pPr indent="0" marL="0">
              <a:buNone/>
            </a:pPr>
            <a:r>
              <a:rPr lang="en-US" sz="1600" b="1" dirty="0">
                <a:solidFill>
                  <a:srgbClr val="000000"/>
                </a:solidFill>
              </a:rPr>
              <a:t>Decision</a:t>
            </a:r>
            <a:endParaRPr lang="en-US" sz="1600" dirty="0"/>
          </a:p>
        </p:txBody>
      </p:sp>
      <p:sp>
        <p:nvSpPr>
          <p:cNvPr id="31" name="agent-engine-Decision"/>
          <p:cNvSpPr txBox="1"/>
          <p:nvPr/>
        </p:nvSpPr>
        <p:spPr>
          <a:xfrm>
            <a:off x="5029200" y="3154680"/>
            <a:ext cx="685800" cy="274320"/>
          </a:xfrm>
          <a:prstGeom prst="rect">
            <a:avLst/>
          </a:prstGeom>
          <a:noFill/>
          <a:ln/>
        </p:spPr>
        <p:txBody>
          <a:bodyPr wrap="square" lIns="0" tIns="0" rIns="0" bIns="0" rtlCol="0" anchor="ctr"/>
          <a:lstStyle/>
          <a:p>
            <a:pPr algn="r" indent="0" marL="0">
              <a:buNone/>
            </a:pPr>
            <a:r>
              <a:rPr lang="en-US" sz="1000" dirty="0">
                <a:solidFill>
                  <a:schemeClr val="tx2"/>
                </a:solidFill>
              </a:rPr>
              <a:t>Python</a:t>
            </a:r>
            <a:endParaRPr lang="en-US" sz="1000" dirty="0"/>
          </a:p>
        </p:txBody>
      </p:sp>
      <p:sp>
        <p:nvSpPr>
          <p:cNvPr id="32" name="agent-job-Decision"/>
          <p:cNvSpPr txBox="1"/>
          <p:nvPr/>
        </p:nvSpPr>
        <p:spPr>
          <a:xfrm>
            <a:off x="3429000" y="3630168"/>
            <a:ext cx="2240280" cy="749808"/>
          </a:xfrm>
          <a:prstGeom prst="rect">
            <a:avLst/>
          </a:prstGeom>
          <a:noFill/>
          <a:ln/>
        </p:spPr>
        <p:txBody>
          <a:bodyPr wrap="square" lIns="0" tIns="0" rIns="0" bIns="0" rtlCol="0" anchor="t"/>
          <a:lstStyle/>
          <a:p>
            <a:pPr indent="0" marL="0">
              <a:buNone/>
            </a:pPr>
            <a:r>
              <a:rPr lang="en-US" sz="1300" dirty="0">
                <a:solidFill>
                  <a:schemeClr val="tx1"/>
                </a:solidFill>
              </a:rPr>
              <a:t>Eligible, not eligible or needs documents, plus a merit-cum-means score</a:t>
            </a:r>
            <a:endParaRPr lang="en-US" sz="1300" dirty="0"/>
          </a:p>
        </p:txBody>
      </p:sp>
      <p:sp>
        <p:nvSpPr>
          <p:cNvPr id="33" name="agent-card-Reporter"/>
          <p:cNvSpPr/>
          <p:nvPr/>
        </p:nvSpPr>
        <p:spPr>
          <a:xfrm>
            <a:off x="6035040" y="2880360"/>
            <a:ext cx="2606040" cy="1600200"/>
          </a:xfrm>
          <a:prstGeom prst="roundRect">
            <a:avLst>
              <a:gd name="adj" fmla="val 4571"/>
            </a:avLst>
          </a:prstGeom>
          <a:solidFill>
            <a:srgbClr val="EEF1F5"/>
          </a:solidFill>
          <a:ln w="12700">
            <a:solidFill>
              <a:srgbClr val="EEF1F5"/>
            </a:solidFill>
            <a:prstDash val="solid"/>
          </a:ln>
        </p:spPr>
      </p:sp>
      <p:sp>
        <p:nvSpPr>
          <p:cNvPr id="34" name="agent-dot-Reporter"/>
          <p:cNvSpPr/>
          <p:nvPr/>
        </p:nvSpPr>
        <p:spPr>
          <a:xfrm>
            <a:off x="6217920" y="3063240"/>
            <a:ext cx="457200" cy="457200"/>
          </a:xfrm>
          <a:prstGeom prst="ellipse">
            <a:avLst/>
          </a:prstGeom>
          <a:solidFill>
            <a:schemeClr val="tx1"/>
          </a:solidFill>
          <a:ln/>
        </p:spPr>
      </p:sp>
      <p:pic>
        <p:nvPicPr>
          <p:cNvPr id="35" name="agent-icon-Reporter" descr="Reporter">    </p:cNvPr>
          <p:cNvPicPr>
            <a:picLocks noChangeAspect="1"/>
          </p:cNvPicPr>
          <p:nvPr/>
        </p:nvPicPr>
        <p:blipFill>
          <a:blip r:embed="rId6"/>
          <a:stretch>
            <a:fillRect/>
          </a:stretch>
        </p:blipFill>
        <p:spPr>
          <a:xfrm>
            <a:off x="6336792" y="3182112"/>
            <a:ext cx="219456" cy="219456"/>
          </a:xfrm>
          <a:prstGeom prst="rect">
            <a:avLst/>
          </a:prstGeom>
        </p:spPr>
      </p:pic>
      <p:sp>
        <p:nvSpPr>
          <p:cNvPr id="36" name="agent-name-Reporter"/>
          <p:cNvSpPr txBox="1"/>
          <p:nvPr/>
        </p:nvSpPr>
        <p:spPr>
          <a:xfrm>
            <a:off x="6784848" y="3063240"/>
            <a:ext cx="1188720" cy="457200"/>
          </a:xfrm>
          <a:prstGeom prst="rect">
            <a:avLst/>
          </a:prstGeom>
          <a:noFill/>
          <a:ln/>
        </p:spPr>
        <p:txBody>
          <a:bodyPr wrap="square" lIns="0" tIns="0" rIns="0" bIns="0" rtlCol="0" anchor="ctr"/>
          <a:lstStyle/>
          <a:p>
            <a:pPr indent="0" marL="0">
              <a:buNone/>
            </a:pPr>
            <a:r>
              <a:rPr lang="en-US" sz="1600" b="1" dirty="0">
                <a:solidFill>
                  <a:srgbClr val="000000"/>
                </a:solidFill>
              </a:rPr>
              <a:t>Reporter</a:t>
            </a:r>
            <a:endParaRPr lang="en-US" sz="1600" dirty="0"/>
          </a:p>
        </p:txBody>
      </p:sp>
      <p:sp>
        <p:nvSpPr>
          <p:cNvPr id="37" name="agent-engine-Reporter"/>
          <p:cNvSpPr txBox="1"/>
          <p:nvPr/>
        </p:nvSpPr>
        <p:spPr>
          <a:xfrm>
            <a:off x="7818120" y="3154680"/>
            <a:ext cx="685800" cy="274320"/>
          </a:xfrm>
          <a:prstGeom prst="rect">
            <a:avLst/>
          </a:prstGeom>
          <a:noFill/>
          <a:ln/>
        </p:spPr>
        <p:txBody>
          <a:bodyPr wrap="square" lIns="0" tIns="0" rIns="0" bIns="0" rtlCol="0" anchor="ctr"/>
          <a:lstStyle/>
          <a:p>
            <a:pPr algn="r" indent="0" marL="0">
              <a:buNone/>
            </a:pPr>
            <a:r>
              <a:rPr lang="en-US" sz="1000" dirty="0">
                <a:solidFill>
                  <a:schemeClr val="tx2"/>
                </a:solidFill>
              </a:rPr>
              <a:t>Ollama</a:t>
            </a:r>
            <a:endParaRPr lang="en-US" sz="1000" dirty="0"/>
          </a:p>
        </p:txBody>
      </p:sp>
      <p:sp>
        <p:nvSpPr>
          <p:cNvPr id="38" name="agent-job-Reporter"/>
          <p:cNvSpPr txBox="1"/>
          <p:nvPr/>
        </p:nvSpPr>
        <p:spPr>
          <a:xfrm>
            <a:off x="6217920" y="3630168"/>
            <a:ext cx="2240280" cy="749808"/>
          </a:xfrm>
          <a:prstGeom prst="rect">
            <a:avLst/>
          </a:prstGeom>
          <a:noFill/>
          <a:ln/>
        </p:spPr>
        <p:txBody>
          <a:bodyPr wrap="square" lIns="0" tIns="0" rIns="0" bIns="0" rtlCol="0" anchor="t"/>
          <a:lstStyle/>
          <a:p>
            <a:pPr indent="0" marL="0">
              <a:buNone/>
            </a:pPr>
            <a:r>
              <a:rPr lang="en-US" sz="1300" dirty="0">
                <a:solidFill>
                  <a:schemeClr val="tx1"/>
                </a:solidFill>
              </a:rPr>
              <a:t>Writes a plain-English reason for the reviewer</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Architecture: one orchestrator, one shared state</a:t>
            </a:r>
            <a:endParaRPr lang="en-US" sz="2600" dirty="0"/>
          </a:p>
        </p:txBody>
      </p:sp>
      <p:pic>
        <p:nvPicPr>
          <p:cNvPr id="3" name="architecture" descr="Architecture diagram: inputs to Streamlit UI, orchestrator running Planner, Extractor, Critic, Validator, Decision, Critic, Reporter, with Ollama model, Python tools and awards registry">    </p:cNvPr>
          <p:cNvPicPr>
            <a:picLocks noChangeAspect="1"/>
          </p:cNvPicPr>
          <p:nvPr/>
        </p:nvPicPr>
        <p:blipFill>
          <a:blip r:embed="rId1"/>
          <a:stretch>
            <a:fillRect/>
          </a:stretch>
        </p:blipFill>
        <p:spPr>
          <a:xfrm>
            <a:off x="1261872" y="987552"/>
            <a:ext cx="6620256" cy="3721608"/>
          </a:xfrm>
          <a:prstGeom prst="rect">
            <a:avLst/>
          </a:prstGeom>
        </p:spPr>
      </p:pic>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Where the agents make decisions</a:t>
            </a:r>
            <a:endParaRPr lang="en-US" sz="2600" dirty="0"/>
          </a:p>
        </p:txBody>
      </p:sp>
      <p:sp>
        <p:nvSpPr>
          <p:cNvPr id="3" name="flow-0"/>
          <p:cNvSpPr/>
          <p:nvPr/>
        </p:nvSpPr>
        <p:spPr>
          <a:xfrm>
            <a:off x="448056" y="1417320"/>
            <a:ext cx="1005840" cy="502920"/>
          </a:xfrm>
          <a:prstGeom prst="roundRect">
            <a:avLst>
              <a:gd name="adj" fmla="val 14545"/>
            </a:avLst>
          </a:prstGeom>
          <a:solidFill>
            <a:srgbClr val="FFFFFF"/>
          </a:solidFill>
          <a:ln w="15875">
            <a:solidFill>
              <a:srgbClr val="1B2A41"/>
            </a:solidFill>
            <a:prstDash val="solid"/>
          </a:ln>
        </p:spPr>
      </p:sp>
      <p:sp>
        <p:nvSpPr>
          <p:cNvPr id="4" name="flow-t-0"/>
          <p:cNvSpPr txBox="1"/>
          <p:nvPr/>
        </p:nvSpPr>
        <p:spPr>
          <a:xfrm>
            <a:off x="448056" y="1417320"/>
            <a:ext cx="1005840" cy="502920"/>
          </a:xfrm>
          <a:prstGeom prst="rect">
            <a:avLst/>
          </a:prstGeom>
          <a:noFill/>
          <a:ln/>
        </p:spPr>
        <p:txBody>
          <a:bodyPr wrap="square" lIns="0" tIns="0" rIns="0" bIns="0" rtlCol="0" anchor="ctr"/>
          <a:lstStyle/>
          <a:p>
            <a:pPr algn="ctr" indent="0" marL="0">
              <a:buNone/>
            </a:pPr>
            <a:r>
              <a:rPr lang="en-US" sz="1200" b="1" dirty="0">
                <a:solidFill>
                  <a:srgbClr val="000000"/>
                </a:solidFill>
              </a:rPr>
              <a:t>Planner</a:t>
            </a:r>
            <a:endParaRPr lang="en-US" sz="1200" dirty="0"/>
          </a:p>
        </p:txBody>
      </p:sp>
      <p:sp>
        <p:nvSpPr>
          <p:cNvPr id="5" name="flow-1"/>
          <p:cNvSpPr/>
          <p:nvPr/>
        </p:nvSpPr>
        <p:spPr>
          <a:xfrm>
            <a:off x="1655064" y="1417320"/>
            <a:ext cx="1005840" cy="502920"/>
          </a:xfrm>
          <a:prstGeom prst="roundRect">
            <a:avLst>
              <a:gd name="adj" fmla="val 14545"/>
            </a:avLst>
          </a:prstGeom>
          <a:solidFill>
            <a:srgbClr val="FFFFFF"/>
          </a:solidFill>
          <a:ln w="15875">
            <a:solidFill>
              <a:srgbClr val="1B2A41"/>
            </a:solidFill>
            <a:prstDash val="solid"/>
          </a:ln>
        </p:spPr>
      </p:sp>
      <p:sp>
        <p:nvSpPr>
          <p:cNvPr id="6" name="flow-t-1"/>
          <p:cNvSpPr txBox="1"/>
          <p:nvPr/>
        </p:nvSpPr>
        <p:spPr>
          <a:xfrm>
            <a:off x="1655064" y="1417320"/>
            <a:ext cx="1005840" cy="502920"/>
          </a:xfrm>
          <a:prstGeom prst="rect">
            <a:avLst/>
          </a:prstGeom>
          <a:noFill/>
          <a:ln/>
        </p:spPr>
        <p:txBody>
          <a:bodyPr wrap="square" lIns="0" tIns="0" rIns="0" bIns="0" rtlCol="0" anchor="ctr"/>
          <a:lstStyle/>
          <a:p>
            <a:pPr algn="ctr" indent="0" marL="0">
              <a:buNone/>
            </a:pPr>
            <a:r>
              <a:rPr lang="en-US" sz="1200" b="1" dirty="0">
                <a:solidFill>
                  <a:srgbClr val="000000"/>
                </a:solidFill>
              </a:rPr>
              <a:t>Extractor</a:t>
            </a:r>
            <a:endParaRPr lang="en-US" sz="1200" dirty="0"/>
          </a:p>
        </p:txBody>
      </p:sp>
      <p:sp>
        <p:nvSpPr>
          <p:cNvPr id="7" name="flow-a-1"/>
          <p:cNvSpPr/>
          <p:nvPr/>
        </p:nvSpPr>
        <p:spPr>
          <a:xfrm>
            <a:off x="1481328" y="1668780"/>
            <a:ext cx="146304" cy="0"/>
          </a:xfrm>
          <a:prstGeom prst="line">
            <a:avLst/>
          </a:prstGeom>
          <a:noFill/>
          <a:ln w="15875">
            <a:solidFill>
              <a:srgbClr val="55627A"/>
            </a:solidFill>
            <a:prstDash val="solid"/>
            <a:tailEnd type="triangle"/>
          </a:ln>
        </p:spPr>
      </p:sp>
      <p:sp>
        <p:nvSpPr>
          <p:cNvPr id="8" name="flow-2"/>
          <p:cNvSpPr/>
          <p:nvPr/>
        </p:nvSpPr>
        <p:spPr>
          <a:xfrm>
            <a:off x="2862072" y="1417320"/>
            <a:ext cx="1005840" cy="502920"/>
          </a:xfrm>
          <a:prstGeom prst="roundRect">
            <a:avLst>
              <a:gd name="adj" fmla="val 14545"/>
            </a:avLst>
          </a:prstGeom>
          <a:solidFill>
            <a:srgbClr val="FFF6E8"/>
          </a:solidFill>
          <a:ln w="15875">
            <a:solidFill>
              <a:srgbClr val="A5640C"/>
            </a:solidFill>
            <a:prstDash val="solid"/>
          </a:ln>
        </p:spPr>
      </p:sp>
      <p:sp>
        <p:nvSpPr>
          <p:cNvPr id="9" name="flow-t-2"/>
          <p:cNvSpPr txBox="1"/>
          <p:nvPr/>
        </p:nvSpPr>
        <p:spPr>
          <a:xfrm>
            <a:off x="2862072" y="1417320"/>
            <a:ext cx="1005840" cy="502920"/>
          </a:xfrm>
          <a:prstGeom prst="rect">
            <a:avLst/>
          </a:prstGeom>
          <a:noFill/>
          <a:ln/>
        </p:spPr>
        <p:txBody>
          <a:bodyPr wrap="square" lIns="0" tIns="0" rIns="0" bIns="0" rtlCol="0" anchor="ctr"/>
          <a:lstStyle/>
          <a:p>
            <a:pPr algn="ctr" indent="0" marL="0">
              <a:buNone/>
            </a:pPr>
            <a:r>
              <a:rPr lang="en-US" sz="1200" b="1" dirty="0">
                <a:solidFill>
                  <a:srgbClr val="000000"/>
                </a:solidFill>
              </a:rPr>
              <a:t>Critic</a:t>
            </a:r>
            <a:endParaRPr lang="en-US" sz="1200" dirty="0"/>
          </a:p>
        </p:txBody>
      </p:sp>
      <p:sp>
        <p:nvSpPr>
          <p:cNvPr id="10" name="flow-a-2"/>
          <p:cNvSpPr/>
          <p:nvPr/>
        </p:nvSpPr>
        <p:spPr>
          <a:xfrm>
            <a:off x="2688336" y="1668780"/>
            <a:ext cx="146304" cy="0"/>
          </a:xfrm>
          <a:prstGeom prst="line">
            <a:avLst/>
          </a:prstGeom>
          <a:noFill/>
          <a:ln w="15875">
            <a:solidFill>
              <a:srgbClr val="55627A"/>
            </a:solidFill>
            <a:prstDash val="solid"/>
            <a:tailEnd type="triangle"/>
          </a:ln>
        </p:spPr>
      </p:sp>
      <p:sp>
        <p:nvSpPr>
          <p:cNvPr id="11" name="flow-3"/>
          <p:cNvSpPr/>
          <p:nvPr/>
        </p:nvSpPr>
        <p:spPr>
          <a:xfrm>
            <a:off x="4069080" y="1417320"/>
            <a:ext cx="1005840" cy="502920"/>
          </a:xfrm>
          <a:prstGeom prst="roundRect">
            <a:avLst>
              <a:gd name="adj" fmla="val 14545"/>
            </a:avLst>
          </a:prstGeom>
          <a:solidFill>
            <a:srgbClr val="FFFFFF"/>
          </a:solidFill>
          <a:ln w="15875">
            <a:solidFill>
              <a:srgbClr val="1B2A41"/>
            </a:solidFill>
            <a:prstDash val="solid"/>
          </a:ln>
        </p:spPr>
      </p:sp>
      <p:sp>
        <p:nvSpPr>
          <p:cNvPr id="12" name="flow-t-3"/>
          <p:cNvSpPr txBox="1"/>
          <p:nvPr/>
        </p:nvSpPr>
        <p:spPr>
          <a:xfrm>
            <a:off x="4069080" y="1417320"/>
            <a:ext cx="1005840" cy="502920"/>
          </a:xfrm>
          <a:prstGeom prst="rect">
            <a:avLst/>
          </a:prstGeom>
          <a:noFill/>
          <a:ln/>
        </p:spPr>
        <p:txBody>
          <a:bodyPr wrap="square" lIns="0" tIns="0" rIns="0" bIns="0" rtlCol="0" anchor="ctr"/>
          <a:lstStyle/>
          <a:p>
            <a:pPr algn="ctr" indent="0" marL="0">
              <a:buNone/>
            </a:pPr>
            <a:r>
              <a:rPr lang="en-US" sz="1200" b="1" dirty="0">
                <a:solidFill>
                  <a:srgbClr val="000000"/>
                </a:solidFill>
              </a:rPr>
              <a:t>Validator</a:t>
            </a:r>
            <a:endParaRPr lang="en-US" sz="1200" dirty="0"/>
          </a:p>
        </p:txBody>
      </p:sp>
      <p:sp>
        <p:nvSpPr>
          <p:cNvPr id="13" name="flow-a-3"/>
          <p:cNvSpPr/>
          <p:nvPr/>
        </p:nvSpPr>
        <p:spPr>
          <a:xfrm>
            <a:off x="3895344" y="1668780"/>
            <a:ext cx="146304" cy="0"/>
          </a:xfrm>
          <a:prstGeom prst="line">
            <a:avLst/>
          </a:prstGeom>
          <a:noFill/>
          <a:ln w="15875">
            <a:solidFill>
              <a:srgbClr val="55627A"/>
            </a:solidFill>
            <a:prstDash val="solid"/>
            <a:tailEnd type="triangle"/>
          </a:ln>
        </p:spPr>
      </p:sp>
      <p:sp>
        <p:nvSpPr>
          <p:cNvPr id="14" name="flow-4"/>
          <p:cNvSpPr/>
          <p:nvPr/>
        </p:nvSpPr>
        <p:spPr>
          <a:xfrm>
            <a:off x="5276088" y="1417320"/>
            <a:ext cx="1005840" cy="502920"/>
          </a:xfrm>
          <a:prstGeom prst="roundRect">
            <a:avLst>
              <a:gd name="adj" fmla="val 14545"/>
            </a:avLst>
          </a:prstGeom>
          <a:solidFill>
            <a:srgbClr val="FFFFFF"/>
          </a:solidFill>
          <a:ln w="15875">
            <a:solidFill>
              <a:srgbClr val="1B2A41"/>
            </a:solidFill>
            <a:prstDash val="solid"/>
          </a:ln>
        </p:spPr>
      </p:sp>
      <p:sp>
        <p:nvSpPr>
          <p:cNvPr id="15" name="flow-t-4"/>
          <p:cNvSpPr txBox="1"/>
          <p:nvPr/>
        </p:nvSpPr>
        <p:spPr>
          <a:xfrm>
            <a:off x="5276088" y="1417320"/>
            <a:ext cx="1005840" cy="502920"/>
          </a:xfrm>
          <a:prstGeom prst="rect">
            <a:avLst/>
          </a:prstGeom>
          <a:noFill/>
          <a:ln/>
        </p:spPr>
        <p:txBody>
          <a:bodyPr wrap="square" lIns="0" tIns="0" rIns="0" bIns="0" rtlCol="0" anchor="ctr"/>
          <a:lstStyle/>
          <a:p>
            <a:pPr algn="ctr" indent="0" marL="0">
              <a:buNone/>
            </a:pPr>
            <a:r>
              <a:rPr lang="en-US" sz="1200" b="1" dirty="0">
                <a:solidFill>
                  <a:srgbClr val="000000"/>
                </a:solidFill>
              </a:rPr>
              <a:t>Decision</a:t>
            </a:r>
            <a:endParaRPr lang="en-US" sz="1200" dirty="0"/>
          </a:p>
        </p:txBody>
      </p:sp>
      <p:sp>
        <p:nvSpPr>
          <p:cNvPr id="16" name="flow-a-4"/>
          <p:cNvSpPr/>
          <p:nvPr/>
        </p:nvSpPr>
        <p:spPr>
          <a:xfrm>
            <a:off x="5102352" y="1668780"/>
            <a:ext cx="146304" cy="0"/>
          </a:xfrm>
          <a:prstGeom prst="line">
            <a:avLst/>
          </a:prstGeom>
          <a:noFill/>
          <a:ln w="15875">
            <a:solidFill>
              <a:srgbClr val="55627A"/>
            </a:solidFill>
            <a:prstDash val="solid"/>
            <a:tailEnd type="triangle"/>
          </a:ln>
        </p:spPr>
      </p:sp>
      <p:sp>
        <p:nvSpPr>
          <p:cNvPr id="17" name="flow-5"/>
          <p:cNvSpPr/>
          <p:nvPr/>
        </p:nvSpPr>
        <p:spPr>
          <a:xfrm>
            <a:off x="6483096" y="1417320"/>
            <a:ext cx="1005840" cy="502920"/>
          </a:xfrm>
          <a:prstGeom prst="roundRect">
            <a:avLst>
              <a:gd name="adj" fmla="val 14545"/>
            </a:avLst>
          </a:prstGeom>
          <a:solidFill>
            <a:srgbClr val="FFF6E8"/>
          </a:solidFill>
          <a:ln w="15875">
            <a:solidFill>
              <a:srgbClr val="A5640C"/>
            </a:solidFill>
            <a:prstDash val="solid"/>
          </a:ln>
        </p:spPr>
      </p:sp>
      <p:sp>
        <p:nvSpPr>
          <p:cNvPr id="18" name="flow-t-5"/>
          <p:cNvSpPr txBox="1"/>
          <p:nvPr/>
        </p:nvSpPr>
        <p:spPr>
          <a:xfrm>
            <a:off x="6483096" y="1417320"/>
            <a:ext cx="1005840" cy="502920"/>
          </a:xfrm>
          <a:prstGeom prst="rect">
            <a:avLst/>
          </a:prstGeom>
          <a:noFill/>
          <a:ln/>
        </p:spPr>
        <p:txBody>
          <a:bodyPr wrap="square" lIns="0" tIns="0" rIns="0" bIns="0" rtlCol="0" anchor="ctr"/>
          <a:lstStyle/>
          <a:p>
            <a:pPr algn="ctr" indent="0" marL="0">
              <a:buNone/>
            </a:pPr>
            <a:r>
              <a:rPr lang="en-US" sz="1200" b="1" dirty="0">
                <a:solidFill>
                  <a:srgbClr val="000000"/>
                </a:solidFill>
              </a:rPr>
              <a:t>Critic</a:t>
            </a:r>
            <a:endParaRPr lang="en-US" sz="1200" dirty="0"/>
          </a:p>
        </p:txBody>
      </p:sp>
      <p:sp>
        <p:nvSpPr>
          <p:cNvPr id="19" name="flow-a-5"/>
          <p:cNvSpPr/>
          <p:nvPr/>
        </p:nvSpPr>
        <p:spPr>
          <a:xfrm>
            <a:off x="6309360" y="1668780"/>
            <a:ext cx="146304" cy="0"/>
          </a:xfrm>
          <a:prstGeom prst="line">
            <a:avLst/>
          </a:prstGeom>
          <a:noFill/>
          <a:ln w="15875">
            <a:solidFill>
              <a:srgbClr val="55627A"/>
            </a:solidFill>
            <a:prstDash val="solid"/>
            <a:tailEnd type="triangle"/>
          </a:ln>
        </p:spPr>
      </p:sp>
      <p:sp>
        <p:nvSpPr>
          <p:cNvPr id="20" name="flow-6"/>
          <p:cNvSpPr/>
          <p:nvPr/>
        </p:nvSpPr>
        <p:spPr>
          <a:xfrm>
            <a:off x="7690104" y="1417320"/>
            <a:ext cx="1005840" cy="502920"/>
          </a:xfrm>
          <a:prstGeom prst="roundRect">
            <a:avLst>
              <a:gd name="adj" fmla="val 14545"/>
            </a:avLst>
          </a:prstGeom>
          <a:solidFill>
            <a:srgbClr val="FFFFFF"/>
          </a:solidFill>
          <a:ln w="15875">
            <a:solidFill>
              <a:srgbClr val="1B2A41"/>
            </a:solidFill>
            <a:prstDash val="solid"/>
          </a:ln>
        </p:spPr>
      </p:sp>
      <p:sp>
        <p:nvSpPr>
          <p:cNvPr id="21" name="flow-t-6"/>
          <p:cNvSpPr txBox="1"/>
          <p:nvPr/>
        </p:nvSpPr>
        <p:spPr>
          <a:xfrm>
            <a:off x="7690104" y="1417320"/>
            <a:ext cx="1005840" cy="502920"/>
          </a:xfrm>
          <a:prstGeom prst="rect">
            <a:avLst/>
          </a:prstGeom>
          <a:noFill/>
          <a:ln/>
        </p:spPr>
        <p:txBody>
          <a:bodyPr wrap="square" lIns="0" tIns="0" rIns="0" bIns="0" rtlCol="0" anchor="ctr"/>
          <a:lstStyle/>
          <a:p>
            <a:pPr algn="ctr" indent="0" marL="0">
              <a:buNone/>
            </a:pPr>
            <a:r>
              <a:rPr lang="en-US" sz="1200" b="1" dirty="0">
                <a:solidFill>
                  <a:srgbClr val="000000"/>
                </a:solidFill>
              </a:rPr>
              <a:t>Reporter</a:t>
            </a:r>
            <a:endParaRPr lang="en-US" sz="1200" dirty="0"/>
          </a:p>
        </p:txBody>
      </p:sp>
      <p:sp>
        <p:nvSpPr>
          <p:cNvPr id="22" name="flow-a-6"/>
          <p:cNvSpPr/>
          <p:nvPr/>
        </p:nvSpPr>
        <p:spPr>
          <a:xfrm>
            <a:off x="7516368" y="1668780"/>
            <a:ext cx="146304" cy="0"/>
          </a:xfrm>
          <a:prstGeom prst="line">
            <a:avLst/>
          </a:prstGeom>
          <a:noFill/>
          <a:ln w="15875">
            <a:solidFill>
              <a:srgbClr val="55627A"/>
            </a:solidFill>
            <a:prstDash val="solid"/>
            <a:tailEnd type="triangle"/>
          </a:ln>
        </p:spPr>
      </p:sp>
      <p:sp>
        <p:nvSpPr>
          <p:cNvPr id="23" name="sendback-top"/>
          <p:cNvSpPr/>
          <p:nvPr/>
        </p:nvSpPr>
        <p:spPr>
          <a:xfrm>
            <a:off x="2157984" y="1188720"/>
            <a:ext cx="1207008" cy="0"/>
          </a:xfrm>
          <a:prstGeom prst="line">
            <a:avLst/>
          </a:prstGeom>
          <a:noFill/>
          <a:ln w="15875">
            <a:solidFill>
              <a:srgbClr val="A5640C"/>
            </a:solidFill>
            <a:prstDash val="dash"/>
          </a:ln>
        </p:spPr>
      </p:sp>
      <p:sp>
        <p:nvSpPr>
          <p:cNvPr id="24" name="sendback-up"/>
          <p:cNvSpPr/>
          <p:nvPr/>
        </p:nvSpPr>
        <p:spPr>
          <a:xfrm>
            <a:off x="3364992" y="1188720"/>
            <a:ext cx="0" cy="228600"/>
          </a:xfrm>
          <a:prstGeom prst="line">
            <a:avLst/>
          </a:prstGeom>
          <a:noFill/>
          <a:ln w="15875">
            <a:solidFill>
              <a:srgbClr val="A5640C"/>
            </a:solidFill>
            <a:prstDash val="dash"/>
          </a:ln>
        </p:spPr>
      </p:sp>
      <p:sp>
        <p:nvSpPr>
          <p:cNvPr id="25" name="sendback-down"/>
          <p:cNvSpPr/>
          <p:nvPr/>
        </p:nvSpPr>
        <p:spPr>
          <a:xfrm>
            <a:off x="2157984" y="1188720"/>
            <a:ext cx="0" cy="210312"/>
          </a:xfrm>
          <a:prstGeom prst="line">
            <a:avLst/>
          </a:prstGeom>
          <a:noFill/>
          <a:ln w="15875">
            <a:solidFill>
              <a:srgbClr val="A5640C"/>
            </a:solidFill>
            <a:prstDash val="dash"/>
            <a:tailEnd type="triangle"/>
          </a:ln>
        </p:spPr>
      </p:sp>
      <p:sp>
        <p:nvSpPr>
          <p:cNvPr id="26" name="sendback-label"/>
          <p:cNvSpPr txBox="1"/>
          <p:nvPr/>
        </p:nvSpPr>
        <p:spPr>
          <a:xfrm>
            <a:off x="3456432" y="1069848"/>
            <a:ext cx="1645920" cy="237744"/>
          </a:xfrm>
          <a:prstGeom prst="rect">
            <a:avLst/>
          </a:prstGeom>
          <a:noFill/>
          <a:ln/>
        </p:spPr>
        <p:txBody>
          <a:bodyPr wrap="square" lIns="0" tIns="0" rIns="0" bIns="0" rtlCol="0" anchor="ctr"/>
          <a:lstStyle/>
          <a:p>
            <a:pPr indent="0" marL="0">
              <a:buNone/>
            </a:pPr>
            <a:r>
              <a:rPr lang="en-US" sz="1000" dirty="0">
                <a:solidFill>
                  <a:schemeClr val="accent4"/>
                </a:solidFill>
              </a:rPr>
              <a:t>send back if wrong</a:t>
            </a:r>
            <a:endParaRPr lang="en-US" sz="1000" dirty="0"/>
          </a:p>
        </p:txBody>
      </p:sp>
      <p:sp>
        <p:nvSpPr>
          <p:cNvPr id="27" name="dec-bg-0"/>
          <p:cNvSpPr/>
          <p:nvPr/>
        </p:nvSpPr>
        <p:spPr>
          <a:xfrm>
            <a:off x="457200" y="2194560"/>
            <a:ext cx="2606040" cy="2377440"/>
          </a:xfrm>
          <a:prstGeom prst="roundRect">
            <a:avLst>
              <a:gd name="adj" fmla="val 3077"/>
            </a:avLst>
          </a:prstGeom>
          <a:solidFill>
            <a:schemeClr val="bg2"/>
          </a:solidFill>
          <a:ln/>
        </p:spPr>
      </p:sp>
      <p:sp>
        <p:nvSpPr>
          <p:cNvPr id="28" name="dec-n-0"/>
          <p:cNvSpPr txBox="1"/>
          <p:nvPr/>
        </p:nvSpPr>
        <p:spPr>
          <a:xfrm>
            <a:off x="640080" y="2304288"/>
            <a:ext cx="457200" cy="457200"/>
          </a:xfrm>
          <a:prstGeom prst="rect">
            <a:avLst/>
          </a:prstGeom>
          <a:noFill/>
          <a:ln/>
        </p:spPr>
        <p:txBody>
          <a:bodyPr wrap="square" lIns="0" tIns="0" rIns="0" bIns="0" rtlCol="0" anchor="ctr"/>
          <a:lstStyle/>
          <a:p>
            <a:pPr indent="0" marL="0">
              <a:buNone/>
            </a:pPr>
            <a:r>
              <a:rPr lang="en-US" sz="2600" b="1" dirty="0">
                <a:solidFill>
                  <a:schemeClr val="tx1"/>
                </a:solidFill>
              </a:rPr>
              <a:t>1</a:t>
            </a:r>
            <a:endParaRPr lang="en-US" sz="2600" dirty="0"/>
          </a:p>
        </p:txBody>
      </p:sp>
      <p:sp>
        <p:nvSpPr>
          <p:cNvPr id="29" name="dec-t-0"/>
          <p:cNvSpPr txBox="1"/>
          <p:nvPr/>
        </p:nvSpPr>
        <p:spPr>
          <a:xfrm>
            <a:off x="640080" y="2788920"/>
            <a:ext cx="2240280" cy="1691640"/>
          </a:xfrm>
          <a:prstGeom prst="rect">
            <a:avLst/>
          </a:prstGeom>
          <a:noFill/>
          <a:ln/>
        </p:spPr>
        <p:txBody>
          <a:bodyPr wrap="square" lIns="0" tIns="0" rIns="0" bIns="0" rtlCol="0" anchor="t"/>
          <a:lstStyle/>
          <a:p>
            <a:pPr indent="0" marL="0">
              <a:spcAft>
                <a:spcPts val="600"/>
              </a:spcAft>
              <a:buNone/>
            </a:pPr>
            <a:r>
              <a:rPr lang="en-US" sz="1500" b="1" dirty="0">
                <a:solidFill>
                  <a:srgbClr val="000000"/>
                </a:solidFill>
              </a:rPr>
              <a:t>Planner chooses the checks</a:t>
            </a:r>
            <a:endParaRPr lang="en-US" sz="1500" dirty="0"/>
          </a:p>
          <a:p>
            <a:pPr indent="0" marL="0">
              <a:spcAft>
                <a:spcPts val="600"/>
              </a:spcAft>
              <a:buNone/>
            </a:pPr>
            <a:r>
              <a:rPr lang="en-US" sz="1300" dirty="0">
                <a:solidFill>
                  <a:schemeClr val="tx2"/>
                </a:solidFill>
              </a:rPr>
              <a:t>Per case. Reserved categories get a relaxed CGPA cutoff and need a category certificate. A guardrail adds back any mandatory check the model skips.</a:t>
            </a:r>
            <a:endParaRPr lang="en-US" sz="1500" dirty="0"/>
          </a:p>
        </p:txBody>
      </p:sp>
      <p:sp>
        <p:nvSpPr>
          <p:cNvPr id="30" name="dec-bg-1"/>
          <p:cNvSpPr/>
          <p:nvPr/>
        </p:nvSpPr>
        <p:spPr>
          <a:xfrm>
            <a:off x="3246120" y="2194560"/>
            <a:ext cx="2606040" cy="2377440"/>
          </a:xfrm>
          <a:prstGeom prst="roundRect">
            <a:avLst>
              <a:gd name="adj" fmla="val 3077"/>
            </a:avLst>
          </a:prstGeom>
          <a:solidFill>
            <a:schemeClr val="bg2"/>
          </a:solidFill>
          <a:ln/>
        </p:spPr>
      </p:sp>
      <p:sp>
        <p:nvSpPr>
          <p:cNvPr id="31" name="dec-n-1"/>
          <p:cNvSpPr txBox="1"/>
          <p:nvPr/>
        </p:nvSpPr>
        <p:spPr>
          <a:xfrm>
            <a:off x="3429000" y="2304288"/>
            <a:ext cx="457200" cy="457200"/>
          </a:xfrm>
          <a:prstGeom prst="rect">
            <a:avLst/>
          </a:prstGeom>
          <a:noFill/>
          <a:ln/>
        </p:spPr>
        <p:txBody>
          <a:bodyPr wrap="square" lIns="0" tIns="0" rIns="0" bIns="0" rtlCol="0" anchor="ctr"/>
          <a:lstStyle/>
          <a:p>
            <a:pPr indent="0" marL="0">
              <a:buNone/>
            </a:pPr>
            <a:r>
              <a:rPr lang="en-US" sz="2600" b="1" dirty="0">
                <a:solidFill>
                  <a:schemeClr val="accent4"/>
                </a:solidFill>
              </a:rPr>
              <a:t>2</a:t>
            </a:r>
            <a:endParaRPr lang="en-US" sz="2600" dirty="0"/>
          </a:p>
        </p:txBody>
      </p:sp>
      <p:sp>
        <p:nvSpPr>
          <p:cNvPr id="32" name="dec-t-1"/>
          <p:cNvSpPr txBox="1"/>
          <p:nvPr/>
        </p:nvSpPr>
        <p:spPr>
          <a:xfrm>
            <a:off x="3429000" y="2788920"/>
            <a:ext cx="2240280" cy="1691640"/>
          </a:xfrm>
          <a:prstGeom prst="rect">
            <a:avLst/>
          </a:prstGeom>
          <a:noFill/>
          <a:ln/>
        </p:spPr>
        <p:txBody>
          <a:bodyPr wrap="square" lIns="0" tIns="0" rIns="0" bIns="0" rtlCol="0" anchor="t"/>
          <a:lstStyle/>
          <a:p>
            <a:pPr indent="0" marL="0">
              <a:spcAft>
                <a:spcPts val="600"/>
              </a:spcAft>
              <a:buNone/>
            </a:pPr>
            <a:r>
              <a:rPr lang="en-US" sz="1500" b="1" dirty="0">
                <a:solidFill>
                  <a:srgbClr val="000000"/>
                </a:solidFill>
              </a:rPr>
              <a:t>Critic accepts, sends back or overrides</a:t>
            </a:r>
            <a:endParaRPr lang="en-US" sz="1500" dirty="0"/>
          </a:p>
          <a:p>
            <a:pPr indent="0" marL="0">
              <a:spcAft>
                <a:spcPts val="600"/>
              </a:spcAft>
              <a:buNone/>
            </a:pPr>
            <a:r>
              <a:rPr lang="en-US" sz="1300" dirty="0">
                <a:solidFill>
                  <a:schemeClr val="tx2"/>
                </a:solidFill>
              </a:rPr>
              <a:t>It compares every field with the source text. Wrong fields go back to the Extractor with notes. If retries run out, it overrides them.</a:t>
            </a:r>
            <a:endParaRPr lang="en-US" sz="1500" dirty="0"/>
          </a:p>
        </p:txBody>
      </p:sp>
      <p:sp>
        <p:nvSpPr>
          <p:cNvPr id="33" name="dec-bg-2"/>
          <p:cNvSpPr/>
          <p:nvPr/>
        </p:nvSpPr>
        <p:spPr>
          <a:xfrm>
            <a:off x="6035040" y="2194560"/>
            <a:ext cx="2606040" cy="2377440"/>
          </a:xfrm>
          <a:prstGeom prst="roundRect">
            <a:avLst>
              <a:gd name="adj" fmla="val 3077"/>
            </a:avLst>
          </a:prstGeom>
          <a:solidFill>
            <a:schemeClr val="bg2"/>
          </a:solidFill>
          <a:ln/>
        </p:spPr>
      </p:sp>
      <p:sp>
        <p:nvSpPr>
          <p:cNvPr id="34" name="dec-n-2"/>
          <p:cNvSpPr txBox="1"/>
          <p:nvPr/>
        </p:nvSpPr>
        <p:spPr>
          <a:xfrm>
            <a:off x="6217920" y="2304288"/>
            <a:ext cx="457200" cy="457200"/>
          </a:xfrm>
          <a:prstGeom prst="rect">
            <a:avLst/>
          </a:prstGeom>
          <a:noFill/>
          <a:ln/>
        </p:spPr>
        <p:txBody>
          <a:bodyPr wrap="square" lIns="0" tIns="0" rIns="0" bIns="0" rtlCol="0" anchor="ctr"/>
          <a:lstStyle/>
          <a:p>
            <a:pPr indent="0" marL="0">
              <a:buNone/>
            </a:pPr>
            <a:r>
              <a:rPr lang="en-US" sz="2600" b="1" dirty="0">
                <a:solidFill>
                  <a:schemeClr val="tx1"/>
                </a:solidFill>
              </a:rPr>
              <a:t>3</a:t>
            </a:r>
            <a:endParaRPr lang="en-US" sz="2600" dirty="0"/>
          </a:p>
        </p:txBody>
      </p:sp>
      <p:sp>
        <p:nvSpPr>
          <p:cNvPr id="35" name="dec-t-2"/>
          <p:cNvSpPr txBox="1"/>
          <p:nvPr/>
        </p:nvSpPr>
        <p:spPr>
          <a:xfrm>
            <a:off x="6217920" y="2788920"/>
            <a:ext cx="2240280" cy="1691640"/>
          </a:xfrm>
          <a:prstGeom prst="rect">
            <a:avLst/>
          </a:prstGeom>
          <a:noFill/>
          <a:ln/>
        </p:spPr>
        <p:txBody>
          <a:bodyPr wrap="square" lIns="0" tIns="0" rIns="0" bIns="0" rtlCol="0" anchor="t"/>
          <a:lstStyle/>
          <a:p>
            <a:pPr indent="0" marL="0">
              <a:spcAft>
                <a:spcPts val="600"/>
              </a:spcAft>
              <a:buNone/>
            </a:pPr>
            <a:r>
              <a:rPr lang="en-US" sz="1500" b="1" dirty="0">
                <a:solidFill>
                  <a:srgbClr val="000000"/>
                </a:solidFill>
              </a:rPr>
              <a:t>Decision picks one of three outcomes</a:t>
            </a:r>
            <a:endParaRPr lang="en-US" sz="1500" dirty="0"/>
          </a:p>
          <a:p>
            <a:pPr indent="0" marL="0">
              <a:spcAft>
                <a:spcPts val="600"/>
              </a:spcAft>
              <a:buNone/>
            </a:pPr>
            <a:r>
              <a:rPr lang="en-US" sz="1300" dirty="0">
                <a:solidFill>
                  <a:schemeClr val="tx2"/>
                </a:solidFill>
              </a:rPr>
              <a:t>Any failed rule means not eligible; anything missing means needs documents. In batch mode, eligible students are ranked and fill the award slots.</a:t>
            </a:r>
            <a:endParaRPr lang="en-US" sz="15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Demo: the Critic catches a slip</a:t>
            </a:r>
            <a:endParaRPr lang="en-US" sz="2600" dirty="0"/>
          </a:p>
        </p:txBody>
      </p:sp>
      <p:pic>
        <p:nvPicPr>
          <p:cNvPr id="3" name="demo-shot" descr="Screenshot of the app screening application MCM-2026-002 with a NOT ELIGIBLE stamp, rule checks and the agent trace">    </p:cNvPr>
          <p:cNvPicPr>
            <a:picLocks noChangeAspect="1"/>
          </p:cNvPicPr>
          <p:nvPr/>
        </p:nvPicPr>
        <p:blipFill>
          <a:blip r:embed="rId1"/>
          <a:stretch>
            <a:fillRect/>
          </a:stretch>
        </p:blipFill>
        <p:spPr>
          <a:xfrm>
            <a:off x="457200" y="1051560"/>
            <a:ext cx="3291840" cy="3529584"/>
          </a:xfrm>
          <a:prstGeom prst="rect">
            <a:avLst/>
          </a:prstGeom>
        </p:spPr>
      </p:pic>
      <p:sp>
        <p:nvSpPr>
          <p:cNvPr id="4" name="demo-dot-0"/>
          <p:cNvSpPr/>
          <p:nvPr/>
        </p:nvSpPr>
        <p:spPr>
          <a:xfrm>
            <a:off x="4023360" y="1051560"/>
            <a:ext cx="384048" cy="384048"/>
          </a:xfrm>
          <a:prstGeom prst="ellipse">
            <a:avLst/>
          </a:prstGeom>
          <a:solidFill>
            <a:schemeClr val="tx1"/>
          </a:solidFill>
          <a:ln/>
        </p:spPr>
      </p:sp>
      <p:sp>
        <p:nvSpPr>
          <p:cNvPr id="5" name="demo-n-0"/>
          <p:cNvSpPr txBox="1"/>
          <p:nvPr/>
        </p:nvSpPr>
        <p:spPr>
          <a:xfrm>
            <a:off x="4023360" y="10515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demo-t-0"/>
          <p:cNvSpPr txBox="1"/>
          <p:nvPr/>
        </p:nvSpPr>
        <p:spPr>
          <a:xfrm>
            <a:off x="4572000" y="996696"/>
            <a:ext cx="4114800" cy="822960"/>
          </a:xfrm>
          <a:prstGeom prst="rect">
            <a:avLst/>
          </a:prstGeom>
          <a:noFill/>
          <a:ln/>
        </p:spPr>
        <p:txBody>
          <a:bodyPr wrap="square" lIns="0" tIns="0" rIns="0" bIns="0" rtlCol="0" anchor="t"/>
          <a:lstStyle/>
          <a:p>
            <a:pPr indent="0" marL="0">
              <a:buNone/>
            </a:pPr>
            <a:r>
              <a:rPr lang="en-US" sz="1500" b="1" dirty="0">
                <a:solidFill>
                  <a:srgbClr val="000000"/>
                </a:solidFill>
              </a:rPr>
              <a:t>Pick an application</a:t>
            </a:r>
            <a:endParaRPr lang="en-US" sz="1500" dirty="0"/>
          </a:p>
          <a:p>
            <a:pPr indent="0" marL="0">
              <a:buNone/>
            </a:pPr>
            <a:r>
              <a:rPr lang="en-US" sz="1300" dirty="0">
                <a:solidFill>
                  <a:schemeClr val="tx2"/>
                </a:solidFill>
              </a:rPr>
              <a:t>MCM-2026-002, Rohan Deshmukh, OBC. The demo switch makes the Extractor slip once.</a:t>
            </a:r>
            <a:endParaRPr lang="en-US" sz="1500" dirty="0"/>
          </a:p>
        </p:txBody>
      </p:sp>
      <p:sp>
        <p:nvSpPr>
          <p:cNvPr id="7" name="demo-dot-1"/>
          <p:cNvSpPr/>
          <p:nvPr/>
        </p:nvSpPr>
        <p:spPr>
          <a:xfrm>
            <a:off x="4023360" y="1947672"/>
            <a:ext cx="384048" cy="384048"/>
          </a:xfrm>
          <a:prstGeom prst="ellipse">
            <a:avLst/>
          </a:prstGeom>
          <a:solidFill>
            <a:schemeClr val="tx1"/>
          </a:solidFill>
          <a:ln/>
        </p:spPr>
      </p:sp>
      <p:sp>
        <p:nvSpPr>
          <p:cNvPr id="8" name="demo-n-1"/>
          <p:cNvSpPr txBox="1"/>
          <p:nvPr/>
        </p:nvSpPr>
        <p:spPr>
          <a:xfrm>
            <a:off x="4023360" y="194767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demo-t-1"/>
          <p:cNvSpPr txBox="1"/>
          <p:nvPr/>
        </p:nvSpPr>
        <p:spPr>
          <a:xfrm>
            <a:off x="4572000" y="1892808"/>
            <a:ext cx="4114800" cy="822960"/>
          </a:xfrm>
          <a:prstGeom prst="rect">
            <a:avLst/>
          </a:prstGeom>
          <a:noFill/>
          <a:ln/>
        </p:spPr>
        <p:txBody>
          <a:bodyPr wrap="square" lIns="0" tIns="0" rIns="0" bIns="0" rtlCol="0" anchor="t"/>
          <a:lstStyle/>
          <a:p>
            <a:pPr indent="0" marL="0">
              <a:buNone/>
            </a:pPr>
            <a:r>
              <a:rPr lang="en-US" sz="1500" b="1" dirty="0">
                <a:solidFill>
                  <a:srgbClr val="000000"/>
                </a:solidFill>
              </a:rPr>
              <a:t>Critic sends it back</a:t>
            </a:r>
            <a:endParaRPr lang="en-US" sz="1500" dirty="0"/>
          </a:p>
          <a:p>
            <a:pPr indent="0" marL="0">
              <a:buNone/>
            </a:pPr>
            <a:r>
              <a:rPr lang="en-US" sz="1300" dirty="0">
                <a:solidFill>
                  <a:schemeClr val="tx2"/>
                </a:solidFill>
              </a:rPr>
              <a:t>Trace steps 3–6: the Critic spots a wrong field, the Extractor re-reads, the Critic accepts.</a:t>
            </a:r>
            <a:endParaRPr lang="en-US" sz="1500" dirty="0"/>
          </a:p>
        </p:txBody>
      </p:sp>
      <p:sp>
        <p:nvSpPr>
          <p:cNvPr id="10" name="demo-dot-2"/>
          <p:cNvSpPr/>
          <p:nvPr/>
        </p:nvSpPr>
        <p:spPr>
          <a:xfrm>
            <a:off x="4023360" y="2843784"/>
            <a:ext cx="384048" cy="384048"/>
          </a:xfrm>
          <a:prstGeom prst="ellipse">
            <a:avLst/>
          </a:prstGeom>
          <a:solidFill>
            <a:schemeClr val="tx1"/>
          </a:solidFill>
          <a:ln/>
        </p:spPr>
      </p:sp>
      <p:sp>
        <p:nvSpPr>
          <p:cNvPr id="11" name="demo-n-2"/>
          <p:cNvSpPr txBox="1"/>
          <p:nvPr/>
        </p:nvSpPr>
        <p:spPr>
          <a:xfrm>
            <a:off x="4023360" y="28437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demo-t-2"/>
          <p:cNvSpPr txBox="1"/>
          <p:nvPr/>
        </p:nvSpPr>
        <p:spPr>
          <a:xfrm>
            <a:off x="4572000" y="2788920"/>
            <a:ext cx="4114800" cy="822960"/>
          </a:xfrm>
          <a:prstGeom prst="rect">
            <a:avLst/>
          </a:prstGeom>
          <a:noFill/>
          <a:ln/>
        </p:spPr>
        <p:txBody>
          <a:bodyPr wrap="square" lIns="0" tIns="0" rIns="0" bIns="0" rtlCol="0" anchor="t"/>
          <a:lstStyle/>
          <a:p>
            <a:pPr indent="0" marL="0">
              <a:buNone/>
            </a:pPr>
            <a:r>
              <a:rPr lang="en-US" sz="1500" b="1" dirty="0">
                <a:solidFill>
                  <a:srgbClr val="000000"/>
                </a:solidFill>
              </a:rPr>
              <a:t>Validator runs six tools</a:t>
            </a:r>
            <a:endParaRPr lang="en-US" sz="1500" dirty="0"/>
          </a:p>
          <a:p>
            <a:pPr indent="0" marL="0">
              <a:buNone/>
            </a:pPr>
            <a:r>
              <a:rPr lang="en-US" sz="1300" dirty="0">
                <a:solidFill>
                  <a:schemeClr val="tx2"/>
                </a:solidFill>
              </a:rPr>
              <a:t>Five pass. check_consistency fails: form says 8.40, marksheet says 7.70.</a:t>
            </a:r>
            <a:endParaRPr lang="en-US" sz="1500" dirty="0"/>
          </a:p>
        </p:txBody>
      </p:sp>
      <p:sp>
        <p:nvSpPr>
          <p:cNvPr id="13" name="demo-dot-3"/>
          <p:cNvSpPr/>
          <p:nvPr/>
        </p:nvSpPr>
        <p:spPr>
          <a:xfrm>
            <a:off x="4023360" y="3739896"/>
            <a:ext cx="384048" cy="384048"/>
          </a:xfrm>
          <a:prstGeom prst="ellipse">
            <a:avLst/>
          </a:prstGeom>
          <a:solidFill>
            <a:schemeClr val="tx1"/>
          </a:solidFill>
          <a:ln/>
        </p:spPr>
      </p:sp>
      <p:sp>
        <p:nvSpPr>
          <p:cNvPr id="14" name="demo-n-3"/>
          <p:cNvSpPr txBox="1"/>
          <p:nvPr/>
        </p:nvSpPr>
        <p:spPr>
          <a:xfrm>
            <a:off x="4023360" y="37398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demo-t-3"/>
          <p:cNvSpPr txBox="1"/>
          <p:nvPr/>
        </p:nvSpPr>
        <p:spPr>
          <a:xfrm>
            <a:off x="4572000" y="3685032"/>
            <a:ext cx="4114800" cy="822960"/>
          </a:xfrm>
          <a:prstGeom prst="rect">
            <a:avLst/>
          </a:prstGeom>
          <a:noFill/>
          <a:ln/>
        </p:spPr>
        <p:txBody>
          <a:bodyPr wrap="square" lIns="0" tIns="0" rIns="0" bIns="0" rtlCol="0" anchor="t"/>
          <a:lstStyle/>
          <a:p>
            <a:pPr indent="0" marL="0">
              <a:buNone/>
            </a:pPr>
            <a:r>
              <a:rPr lang="en-US" sz="1500" b="1" dirty="0">
                <a:solidFill>
                  <a:srgbClr val="000000"/>
                </a:solidFill>
              </a:rPr>
              <a:t>Stamp and reason</a:t>
            </a:r>
            <a:endParaRPr lang="en-US" sz="1500" dirty="0"/>
          </a:p>
          <a:p>
            <a:pPr indent="0" marL="0">
              <a:buNone/>
            </a:pPr>
            <a:r>
              <a:rPr lang="en-US" sz="1300" dirty="0">
                <a:solidFill>
                  <a:schemeClr val="tx2"/>
                </a:solidFill>
              </a:rPr>
              <a:t>Not eligible, with the exact rule named for the reviewer.</a:t>
            </a:r>
            <a:endParaRPr lang="en-US" sz="1500" dirty="0"/>
          </a:p>
        </p:txBody>
      </p:sp>
      <p:sp>
        <p:nvSpPr>
          <p:cNvPr id="16" name="demo-link">
            <a:hlinkClick r:id="rId2" tooltip=""/>
          </p:cNvPr>
          <p:cNvSpPr txBox="1"/>
          <p:nvPr/>
        </p:nvSpPr>
        <p:spPr>
          <a:xfrm>
            <a:off x="4572000" y="4526280"/>
            <a:ext cx="4114800" cy="228600"/>
          </a:xfrm>
          <a:prstGeom prst="rect">
            <a:avLst/>
          </a:prstGeom>
          <a:noFill/>
          <a:ln/>
        </p:spPr>
        <p:txBody>
          <a:bodyPr wrap="square" lIns="0" tIns="0" rIns="0" bIns="0" rtlCol="0" anchor="ctr"/>
          <a:lstStyle/>
          <a:p>
            <a:pPr indent="0" marL="0">
              <a:buNone/>
            </a:pPr>
            <a:r>
              <a:rPr lang="en-US" sz="1100" b="1" u="sng" dirty="0">
                <a:solidFill>
                  <a:schemeClr val="accent2"/>
                </a:solidFill>
                <a:hlinkClick r:id="rId2" invalidUrl="" action="" tgtFrame="" tooltip="" history="1" highlightClick="0" endSnd="0">
                  <a:extLst>
                    <a:ext uri="{A12FA001-AC4F-418D-AE19-62706E023703}">
                      <ahyp:hlinkClr xmlns:ahyp="http://schemas.microsoft.com/office/drawing/2018/hyperlinkcolor" val="tx"/>
                    </a:ext>
                  </a:extLst>
                </a:hlinkClick>
              </a:rPr>
              <a:t>Live: scholardesk-wpdp.onrender.com</a:t>
            </a:r>
            <a:endParaRPr lang="en-US" sz="11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Validated against hand-checked answers</a:t>
            </a:r>
            <a:endParaRPr lang="en-US" sz="2600" dirty="0"/>
          </a:p>
        </p:txBody>
      </p:sp>
      <p:sp>
        <p:nvSpPr>
          <p:cNvPr id="3" name="stat-n-0"/>
          <p:cNvSpPr txBox="1"/>
          <p:nvPr/>
        </p:nvSpPr>
        <p:spPr>
          <a:xfrm>
            <a:off x="457200" y="1097280"/>
            <a:ext cx="1737360" cy="731520"/>
          </a:xfrm>
          <a:prstGeom prst="rect">
            <a:avLst/>
          </a:prstGeom>
          <a:noFill/>
          <a:ln/>
        </p:spPr>
        <p:txBody>
          <a:bodyPr wrap="square" lIns="0" tIns="0" rIns="0" bIns="0" rtlCol="0" anchor="ctr"/>
          <a:lstStyle/>
          <a:p>
            <a:pPr indent="0" marL="0">
              <a:buNone/>
            </a:pPr>
            <a:r>
              <a:rPr lang="en-US" sz="4400" b="1" dirty="0">
                <a:solidFill>
                  <a:schemeClr val="accent2"/>
                </a:solidFill>
              </a:rPr>
              <a:t>12/12</a:t>
            </a:r>
            <a:endParaRPr lang="en-US" sz="4400" dirty="0"/>
          </a:p>
        </p:txBody>
      </p:sp>
      <p:sp>
        <p:nvSpPr>
          <p:cNvPr id="4" name="stat-t-0"/>
          <p:cNvSpPr txBox="1"/>
          <p:nvPr/>
        </p:nvSpPr>
        <p:spPr>
          <a:xfrm>
            <a:off x="2240280" y="1097280"/>
            <a:ext cx="2103120" cy="731520"/>
          </a:xfrm>
          <a:prstGeom prst="rect">
            <a:avLst/>
          </a:prstGeom>
          <a:noFill/>
          <a:ln/>
        </p:spPr>
        <p:txBody>
          <a:bodyPr wrap="square" lIns="0" tIns="0" rIns="0" bIns="0" rtlCol="0" anchor="ctr"/>
          <a:lstStyle/>
          <a:p>
            <a:pPr indent="0" marL="0">
              <a:buNone/>
            </a:pPr>
            <a:r>
              <a:rPr lang="en-US" sz="1400" dirty="0">
                <a:solidFill>
                  <a:schemeClr val="tx1"/>
                </a:solidFill>
              </a:rPr>
              <a:t>verdicts match the hand-checked labels</a:t>
            </a:r>
            <a:endParaRPr lang="en-US" sz="1400" dirty="0"/>
          </a:p>
        </p:txBody>
      </p:sp>
      <p:sp>
        <p:nvSpPr>
          <p:cNvPr id="5" name="stat-n-1"/>
          <p:cNvSpPr txBox="1"/>
          <p:nvPr/>
        </p:nvSpPr>
        <p:spPr>
          <a:xfrm>
            <a:off x="457200" y="2240280"/>
            <a:ext cx="1737360" cy="731520"/>
          </a:xfrm>
          <a:prstGeom prst="rect">
            <a:avLst/>
          </a:prstGeom>
          <a:noFill/>
          <a:ln/>
        </p:spPr>
        <p:txBody>
          <a:bodyPr wrap="square" lIns="0" tIns="0" rIns="0" bIns="0" rtlCol="0" anchor="ctr"/>
          <a:lstStyle/>
          <a:p>
            <a:pPr indent="0" marL="0">
              <a:buNone/>
            </a:pPr>
            <a:r>
              <a:rPr lang="en-US" sz="4400" b="1" dirty="0">
                <a:solidFill>
                  <a:schemeClr val="accent4"/>
                </a:solidFill>
              </a:rPr>
              <a:t>12/12</a:t>
            </a:r>
            <a:endParaRPr lang="en-US" sz="4400" dirty="0"/>
          </a:p>
        </p:txBody>
      </p:sp>
      <p:sp>
        <p:nvSpPr>
          <p:cNvPr id="6" name="stat-t-1"/>
          <p:cNvSpPr txBox="1"/>
          <p:nvPr/>
        </p:nvSpPr>
        <p:spPr>
          <a:xfrm>
            <a:off x="2240280" y="2240280"/>
            <a:ext cx="2103120" cy="731520"/>
          </a:xfrm>
          <a:prstGeom prst="rect">
            <a:avLst/>
          </a:prstGeom>
          <a:noFill/>
          <a:ln/>
        </p:spPr>
        <p:txBody>
          <a:bodyPr wrap="square" lIns="0" tIns="0" rIns="0" bIns="0" rtlCol="0" anchor="ctr"/>
          <a:lstStyle/>
          <a:p>
            <a:pPr indent="0" marL="0">
              <a:buNone/>
            </a:pPr>
            <a:r>
              <a:rPr lang="en-US" sz="1400" dirty="0">
                <a:solidFill>
                  <a:schemeClr val="tx1"/>
                </a:solidFill>
              </a:rPr>
              <a:t>injected extraction slips caught by the Critic</a:t>
            </a:r>
            <a:endParaRPr lang="en-US" sz="1400" dirty="0"/>
          </a:p>
        </p:txBody>
      </p:sp>
      <p:sp>
        <p:nvSpPr>
          <p:cNvPr id="7" name="stat-n-2"/>
          <p:cNvSpPr txBox="1"/>
          <p:nvPr/>
        </p:nvSpPr>
        <p:spPr>
          <a:xfrm>
            <a:off x="457200" y="3383280"/>
            <a:ext cx="1737360" cy="731520"/>
          </a:xfrm>
          <a:prstGeom prst="rect">
            <a:avLst/>
          </a:prstGeom>
          <a:noFill/>
          <a:ln/>
        </p:spPr>
        <p:txBody>
          <a:bodyPr wrap="square" lIns="0" tIns="0" rIns="0" bIns="0" rtlCol="0" anchor="ctr"/>
          <a:lstStyle/>
          <a:p>
            <a:pPr indent="0" marL="0">
              <a:buNone/>
            </a:pPr>
            <a:r>
              <a:rPr lang="en-US" sz="4400" b="1" dirty="0">
                <a:solidFill>
                  <a:schemeClr val="tx1"/>
                </a:solidFill>
              </a:rPr>
              <a:t>0</a:t>
            </a:r>
            <a:endParaRPr lang="en-US" sz="4400" dirty="0"/>
          </a:p>
        </p:txBody>
      </p:sp>
      <p:sp>
        <p:nvSpPr>
          <p:cNvPr id="8" name="stat-t-2"/>
          <p:cNvSpPr txBox="1"/>
          <p:nvPr/>
        </p:nvSpPr>
        <p:spPr>
          <a:xfrm>
            <a:off x="2240280" y="3383280"/>
            <a:ext cx="2103120" cy="731520"/>
          </a:xfrm>
          <a:prstGeom prst="rect">
            <a:avLst/>
          </a:prstGeom>
          <a:noFill/>
          <a:ln/>
        </p:spPr>
        <p:txBody>
          <a:bodyPr wrap="square" lIns="0" tIns="0" rIns="0" bIns="0" rtlCol="0" anchor="ctr"/>
          <a:lstStyle/>
          <a:p>
            <a:pPr indent="0" marL="0">
              <a:buNone/>
            </a:pPr>
            <a:r>
              <a:rPr lang="en-US" sz="1400" dirty="0">
                <a:solidFill>
                  <a:schemeClr val="tx1"/>
                </a:solidFill>
              </a:rPr>
              <a:t>verdicts contradicted by the rule results</a:t>
            </a:r>
            <a:endParaRPr lang="en-US" sz="1400" dirty="0"/>
          </a:p>
        </p:txBody>
      </p:sp>
      <p:graphicFrame>
        <p:nvGraphicFramePr>
          <p:cNvPr id="9" name="batch-chart" descr="Bar chart: 4 awarded, 1 waitlisted, 2 need documents, 5 not eligible"/>
          <p:cNvGraphicFramePr/>
          <p:nvPr/>
        </p:nvGraphicFramePr>
        <p:xfrm>
          <a:off x="4663440" y="1005840"/>
          <a:ext cx="4023360" cy="2743200"/>
        </p:xfrm>
        <a:graphic xmlns:a="http://schemas.openxmlformats.org/drawingml/2006/main">
          <a:graphicData uri="http://schemas.openxmlformats.org/drawingml/2006/chart">
            <c:chart xmlns:c="http://schemas.openxmlformats.org/drawingml/2006/chart" r:id="rId1"/>
          </a:graphicData>
        </a:graphic>
      </p:graphicFrame>
      <p:sp>
        <p:nvSpPr>
          <p:cNvPr id="10" name="rank-note"/>
          <p:cNvSpPr txBox="1"/>
          <p:nvPr/>
        </p:nvSpPr>
        <p:spPr>
          <a:xfrm>
            <a:off x="4663440" y="3840480"/>
            <a:ext cx="4023360" cy="777240"/>
          </a:xfrm>
          <a:prstGeom prst="rect">
            <a:avLst/>
          </a:prstGeom>
          <a:noFill/>
          <a:ln/>
        </p:spPr>
        <p:txBody>
          <a:bodyPr wrap="square" lIns="0" tIns="0" rIns="0" bIns="0" rtlCol="0" anchor="t"/>
          <a:lstStyle/>
          <a:p>
            <a:pPr indent="0" marL="0">
              <a:buNone/>
            </a:pPr>
            <a:r>
              <a:rPr lang="en-US" sz="1200" dirty="0">
                <a:solidFill>
                  <a:schemeClr val="tx2"/>
                </a:solidFill>
              </a:rPr>
              <a:t>Top rank went to an ST student with CGPA 7.80 and income ₹3.6 lakh, ahead of a General student with CGPA 9.12 and ₹5.4 lakh. The score weighs need alongside merit, as the scheme intends.</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Limitations and what comes next</a:t>
            </a:r>
            <a:endParaRPr lang="en-US" sz="2600" dirty="0"/>
          </a:p>
        </p:txBody>
      </p:sp>
      <p:sp>
        <p:nvSpPr>
          <p:cNvPr id="3" name="col-dot-0"/>
          <p:cNvSpPr/>
          <p:nvPr/>
        </p:nvSpPr>
        <p:spPr>
          <a:xfrm>
            <a:off x="457200" y="1097280"/>
            <a:ext cx="457200" cy="457200"/>
          </a:xfrm>
          <a:prstGeom prst="ellipse">
            <a:avLst/>
          </a:prstGeom>
          <a:solidFill>
            <a:srgbClr val="B3261E"/>
          </a:solidFill>
          <a:ln/>
        </p:spPr>
      </p:sp>
      <p:pic>
        <p:nvPicPr>
          <p:cNvPr id="4" name="col-icon-0" descr="Limitations">    </p:cNvPr>
          <p:cNvPicPr>
            <a:picLocks noChangeAspect="1"/>
          </p:cNvPicPr>
          <p:nvPr/>
        </p:nvPicPr>
        <p:blipFill>
          <a:blip r:embed="rId1"/>
          <a:stretch>
            <a:fillRect/>
          </a:stretch>
        </p:blipFill>
        <p:spPr>
          <a:xfrm>
            <a:off x="576072" y="1216152"/>
            <a:ext cx="219456" cy="219456"/>
          </a:xfrm>
          <a:prstGeom prst="rect">
            <a:avLst/>
          </a:prstGeom>
        </p:spPr>
      </p:pic>
      <p:sp>
        <p:nvSpPr>
          <p:cNvPr id="5" name="col-h-0"/>
          <p:cNvSpPr txBox="1"/>
          <p:nvPr/>
        </p:nvSpPr>
        <p:spPr>
          <a:xfrm>
            <a:off x="1051560" y="1097280"/>
            <a:ext cx="3200400" cy="457200"/>
          </a:xfrm>
          <a:prstGeom prst="rect">
            <a:avLst/>
          </a:prstGeom>
          <a:noFill/>
          <a:ln/>
        </p:spPr>
        <p:txBody>
          <a:bodyPr wrap="square" lIns="0" tIns="0" rIns="0" bIns="0" rtlCol="0" anchor="ctr"/>
          <a:lstStyle/>
          <a:p>
            <a:pPr indent="0" marL="0">
              <a:buNone/>
            </a:pPr>
            <a:r>
              <a:rPr lang="en-US" sz="1800" b="1" dirty="0">
                <a:solidFill>
                  <a:srgbClr val="000000"/>
                </a:solidFill>
              </a:rPr>
              <a:t>Limitations</a:t>
            </a:r>
            <a:endParaRPr lang="en-US" sz="1800" dirty="0"/>
          </a:p>
        </p:txBody>
      </p:sp>
      <p:sp>
        <p:nvSpPr>
          <p:cNvPr id="6" name="col-list-0"/>
          <p:cNvSpPr txBox="1"/>
          <p:nvPr/>
        </p:nvSpPr>
        <p:spPr>
          <a:xfrm>
            <a:off x="457200" y="1737360"/>
            <a:ext cx="3840480" cy="26517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Synthetic, clean text; real forms are scanned PDFs</a:t>
            </a:r>
            <a:endParaRPr lang="en-US" sz="1400" dirty="0"/>
          </a:p>
          <a:p>
            <a:pPr marL="342900" indent="-342900">
              <a:spcAft>
                <a:spcPts val="1000"/>
              </a:spcAft>
              <a:buSzPct val="100000"/>
              <a:buChar char="•"/>
            </a:pPr>
            <a:r>
              <a:rPr lang="en-US" sz="1400" dirty="0">
                <a:solidFill>
                  <a:schemeClr val="tx1"/>
                </a:solidFill>
              </a:rPr>
              <a:t>Small local model can misread numbers or break JSON</a:t>
            </a:r>
            <a:endParaRPr lang="en-US" sz="1400" dirty="0"/>
          </a:p>
          <a:p>
            <a:pPr marL="342900" indent="-342900">
              <a:spcAft>
                <a:spcPts val="1000"/>
              </a:spcAft>
              <a:buSzPct val="100000"/>
              <a:buChar char="•"/>
            </a:pPr>
            <a:r>
              <a:rPr lang="en-US" sz="1400" dirty="0">
                <a:solidFill>
                  <a:schemeClr val="tx1"/>
                </a:solidFill>
              </a:rPr>
              <a:t>Render free tier has too little RAM for Ollama, so the hosted demo uses the rule model</a:t>
            </a:r>
            <a:endParaRPr lang="en-US" sz="1400" dirty="0"/>
          </a:p>
          <a:p>
            <a:pPr marL="342900" indent="-342900">
              <a:spcAft>
                <a:spcPts val="1000"/>
              </a:spcAft>
              <a:buSzPct val="100000"/>
              <a:buChar char="•"/>
            </a:pPr>
            <a:r>
              <a:rPr lang="en-US" sz="1400" dirty="0">
                <a:solidFill>
                  <a:schemeClr val="tx1"/>
                </a:solidFill>
              </a:rPr>
              <a:t>Checks that documents exist, not that they are genuine</a:t>
            </a:r>
            <a:endParaRPr lang="en-US" sz="1400" dirty="0"/>
          </a:p>
        </p:txBody>
      </p:sp>
      <p:sp>
        <p:nvSpPr>
          <p:cNvPr id="7" name="col-dot-1"/>
          <p:cNvSpPr/>
          <p:nvPr/>
        </p:nvSpPr>
        <p:spPr>
          <a:xfrm>
            <a:off x="4709160" y="1097280"/>
            <a:ext cx="457200" cy="457200"/>
          </a:xfrm>
          <a:prstGeom prst="ellipse">
            <a:avLst/>
          </a:prstGeom>
          <a:solidFill>
            <a:srgbClr val="2E7D4F"/>
          </a:solidFill>
          <a:ln/>
        </p:spPr>
      </p:sp>
      <p:pic>
        <p:nvPicPr>
          <p:cNvPr id="8" name="col-icon-1" descr="Future scope">    </p:cNvPr>
          <p:cNvPicPr>
            <a:picLocks noChangeAspect="1"/>
          </p:cNvPicPr>
          <p:nvPr/>
        </p:nvPicPr>
        <p:blipFill>
          <a:blip r:embed="rId2"/>
          <a:stretch>
            <a:fillRect/>
          </a:stretch>
        </p:blipFill>
        <p:spPr>
          <a:xfrm>
            <a:off x="4828032" y="1216152"/>
            <a:ext cx="219456" cy="219456"/>
          </a:xfrm>
          <a:prstGeom prst="rect">
            <a:avLst/>
          </a:prstGeom>
        </p:spPr>
      </p:pic>
      <p:sp>
        <p:nvSpPr>
          <p:cNvPr id="9" name="col-h-1"/>
          <p:cNvSpPr txBox="1"/>
          <p:nvPr/>
        </p:nvSpPr>
        <p:spPr>
          <a:xfrm>
            <a:off x="5303520" y="1097280"/>
            <a:ext cx="3200400" cy="457200"/>
          </a:xfrm>
          <a:prstGeom prst="rect">
            <a:avLst/>
          </a:prstGeom>
          <a:noFill/>
          <a:ln/>
        </p:spPr>
        <p:txBody>
          <a:bodyPr wrap="square" lIns="0" tIns="0" rIns="0" bIns="0" rtlCol="0" anchor="ctr"/>
          <a:lstStyle/>
          <a:p>
            <a:pPr indent="0" marL="0">
              <a:buNone/>
            </a:pPr>
            <a:r>
              <a:rPr lang="en-US" sz="1800" b="1" dirty="0">
                <a:solidFill>
                  <a:srgbClr val="000000"/>
                </a:solidFill>
              </a:rPr>
              <a:t>Future scope</a:t>
            </a:r>
            <a:endParaRPr lang="en-US" sz="1800" dirty="0"/>
          </a:p>
        </p:txBody>
      </p:sp>
      <p:sp>
        <p:nvSpPr>
          <p:cNvPr id="10" name="col-list-1"/>
          <p:cNvSpPr txBox="1"/>
          <p:nvPr/>
        </p:nvSpPr>
        <p:spPr>
          <a:xfrm>
            <a:off x="4709160" y="1737360"/>
            <a:ext cx="3840480" cy="26517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OCR so the Extractor reads scanned certificates</a:t>
            </a:r>
            <a:endParaRPr lang="en-US" sz="1400" dirty="0"/>
          </a:p>
          <a:p>
            <a:pPr marL="342900" indent="-342900">
              <a:spcAft>
                <a:spcPts val="1000"/>
              </a:spcAft>
              <a:buSzPct val="100000"/>
              <a:buChar char="•"/>
            </a:pPr>
            <a:r>
              <a:rPr lang="en-US" sz="1400" dirty="0">
                <a:solidFill>
                  <a:schemeClr val="tx1"/>
                </a:solidFill>
              </a:rPr>
              <a:t>Rules editable in the app for several schemes</a:t>
            </a:r>
            <a:endParaRPr lang="en-US" sz="1400" dirty="0"/>
          </a:p>
          <a:p>
            <a:pPr marL="342900" indent="-342900">
              <a:spcAft>
                <a:spcPts val="1000"/>
              </a:spcAft>
              <a:buSzPct val="100000"/>
              <a:buChar char="•"/>
            </a:pPr>
            <a:r>
              <a:rPr lang="en-US" sz="1400" dirty="0">
                <a:solidFill>
                  <a:schemeClr val="tx1"/>
                </a:solidFill>
              </a:rPr>
              <a:t>LangGraph orchestration and MCP-exposed rule tools</a:t>
            </a:r>
            <a:endParaRPr lang="en-US" sz="1400" dirty="0"/>
          </a:p>
          <a:p>
            <a:pPr marL="342900" indent="-342900">
              <a:spcAft>
                <a:spcPts val="1000"/>
              </a:spcAft>
              <a:buSzPct val="100000"/>
              <a:buChar char="•"/>
            </a:pPr>
            <a:r>
              <a:rPr lang="en-US" sz="1400" dirty="0">
                <a:solidFill>
                  <a:schemeClr val="tx1"/>
                </a:solidFill>
              </a:rPr>
              <a:t>Draft each student's result email automatically</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852160" cy="1463040"/>
          </a:xfrm>
          <a:prstGeom prst="rect">
            <a:avLst/>
          </a:prstGeom>
          <a:noFill/>
          <a:ln/>
        </p:spPr>
        <p:txBody>
          <a:bodyPr wrap="square" lIns="0" tIns="0" rIns="0" bIns="0" rtlCol="0" anchor="t"/>
          <a:lstStyle/>
          <a:p>
            <a:pPr algn="l" indent="0" marL="0">
              <a:buNone/>
            </a:pPr>
            <a:r>
              <a:rPr lang="en-US" sz="4000" b="1" dirty="0">
                <a:solidFill>
                  <a:schemeClr val="bg1"/>
                </a:solidFill>
              </a:rPr>
              <a:t>Thank you</a:t>
            </a:r>
            <a:endParaRPr lang="en-US" sz="4000" dirty="0"/>
          </a:p>
        </p:txBody>
      </p:sp>
      <p:sp>
        <p:nvSpPr>
          <p:cNvPr id="3" name="Text 0"/>
          <p:cNvSpPr/>
          <p:nvPr>
            <p:ph idx="101" type="body" hasCustomPrompt="1"/>
          </p:nvPr>
        </p:nvSpPr>
        <p:spPr>
          <a:xfrm>
            <a:off x="548640" y="2788920"/>
            <a:ext cx="5486400" cy="822960"/>
          </a:xfrm>
          <a:prstGeom prst="rect">
            <a:avLst/>
          </a:prstGeom>
          <a:noFill/>
          <a:ln/>
        </p:spPr>
        <p:txBody>
          <a:bodyPr wrap="square" lIns="0" tIns="0" rIns="0" bIns="0" rtlCol="0" anchor="t"/>
          <a:lstStyle/>
          <a:p>
            <a:pPr algn="l" indent="0" marL="0">
              <a:buNone/>
            </a:pPr>
            <a:r>
              <a:rPr lang="en-US" sz="1600" dirty="0">
                <a:solidFill>
                  <a:srgbClr val="C9D2DE"/>
                </a:solidFill>
              </a:rPr>
              <a:t>Questions welcome</a:t>
            </a:r>
            <a:endParaRPr lang="en-US" sz="1600" dirty="0"/>
          </a:p>
        </p:txBody>
      </p:sp>
      <p:sp>
        <p:nvSpPr>
          <p:cNvPr id="4" name="stamp-outer-REVIEWED"/>
          <p:cNvSpPr/>
          <p:nvPr/>
        </p:nvSpPr>
        <p:spPr>
          <a:xfrm rot="-360000">
            <a:off x="6537960" y="1417320"/>
            <a:ext cx="2011680" cy="713232"/>
          </a:xfrm>
          <a:prstGeom prst="roundRect">
            <a:avLst>
              <a:gd name="adj" fmla="val 7692"/>
            </a:avLst>
          </a:prstGeom>
          <a:ln w="28575">
            <a:solidFill>
              <a:srgbClr val="7FA3D6"/>
            </a:solidFill>
            <a:prstDash val="solid"/>
          </a:ln>
        </p:spPr>
      </p:sp>
      <p:sp>
        <p:nvSpPr>
          <p:cNvPr id="5" name="stamp-inner-REVIEWED"/>
          <p:cNvSpPr/>
          <p:nvPr/>
        </p:nvSpPr>
        <p:spPr>
          <a:xfrm rot="-360000">
            <a:off x="6583680" y="1463040"/>
            <a:ext cx="1920240" cy="621792"/>
          </a:xfrm>
          <a:prstGeom prst="roundRect">
            <a:avLst>
              <a:gd name="adj" fmla="val 5882"/>
            </a:avLst>
          </a:prstGeom>
          <a:ln w="12700">
            <a:solidFill>
              <a:srgbClr val="7FA3D6"/>
            </a:solidFill>
            <a:prstDash val="solid"/>
          </a:ln>
        </p:spPr>
      </p:sp>
      <p:sp>
        <p:nvSpPr>
          <p:cNvPr id="6" name="stamp-text-REVIEWED"/>
          <p:cNvSpPr txBox="1"/>
          <p:nvPr/>
        </p:nvSpPr>
        <p:spPr>
          <a:xfrm rot="-360000">
            <a:off x="6537960" y="1417320"/>
            <a:ext cx="2011680" cy="713232"/>
          </a:xfrm>
          <a:prstGeom prst="rect">
            <a:avLst/>
          </a:prstGeom>
          <a:noFill/>
          <a:ln/>
        </p:spPr>
        <p:txBody>
          <a:bodyPr wrap="square" lIns="0" tIns="0" rIns="0" bIns="0" rtlCol="0" anchor="ctr"/>
          <a:lstStyle/>
          <a:p>
            <a:pPr algn="ctr" indent="0" marL="0">
              <a:buNone/>
            </a:pPr>
            <a:r>
              <a:rPr lang="en-US" sz="2000" b="1" spc="200" kern="0" dirty="0">
                <a:solidFill>
                  <a:srgbClr val="7FA3D6"/>
                </a:solidFill>
                <a:latin typeface="Arial" pitchFamily="34" charset="0"/>
                <a:ea typeface="Arial" pitchFamily="34" charset="-122"/>
                <a:cs typeface="Arial" pitchFamily="34" charset="-120"/>
              </a:rPr>
              <a:t>REVIEWED</a:t>
            </a:r>
            <a:endParaRPr lang="en-US" sz="2000" dirty="0"/>
          </a:p>
        </p:txBody>
      </p:sp>
      <p:sp>
        <p:nvSpPr>
          <p:cNvPr id="7" name="links"/>
          <p:cNvSpPr txBox="1"/>
          <p:nvPr/>
        </p:nvSpPr>
        <p:spPr>
          <a:xfrm>
            <a:off x="548640" y="3840480"/>
            <a:ext cx="7772400" cy="685800"/>
          </a:xfrm>
          <a:prstGeom prst="rect">
            <a:avLst/>
          </a:prstGeom>
          <a:noFill/>
          <a:ln/>
        </p:spPr>
        <p:txBody>
          <a:bodyPr wrap="square" lIns="0" tIns="0" rIns="0" bIns="0" rtlCol="0" anchor="ctr"/>
          <a:lstStyle/>
          <a:p>
            <a:pPr indent="0" marL="0">
              <a:buNone/>
            </a:pPr>
            <a:r>
              <a:rPr lang="en-US" sz="1400" dirty="0">
                <a:solidFill>
                  <a:srgbClr val="C9D2DE"/>
                </a:solidFill>
              </a:rPr>
              <a:t>Live app  </a:t>
            </a:r>
            <a:pPr indent="0" marL="0">
              <a:buNone/>
            </a:pPr>
            <a:r>
              <a:rPr lang="en-US" sz="1400" b="1" u="sng" dirty="0">
                <a:solidFill>
                  <a:srgbClr val="FFFFFF"/>
                </a:solidFill>
                <a:hlinkClick r:id="rId1" invalidUrl="" action="" tgtFrame="" tooltip="" history="1" highlightClick="0" endSnd="0">
                  <a:extLst>
                    <a:ext uri="{A12FA001-AC4F-418D-AE19-62706E023703}">
                      <ahyp:hlinkClr xmlns:ahyp="http://schemas.microsoft.com/office/drawing/2018/hyperlinkcolor" val="tx"/>
                    </a:ext>
                  </a:extLst>
                </a:hlinkClick>
              </a:rPr>
              <a:t>scholardesk-wpdp.onrender.com</a:t>
            </a:r>
            <a:endParaRPr lang="en-US" sz="1400" dirty="0"/>
          </a:p>
          <a:p>
            <a:pPr indent="0" marL="0">
              <a:buNone/>
            </a:pPr>
            <a:r>
              <a:rPr lang="en-US" sz="1400" dirty="0">
                <a:solidFill>
                  <a:srgbClr val="C9D2DE"/>
                </a:solidFill>
              </a:rPr>
              <a:t>Code  </a:t>
            </a:r>
            <a:pPr indent="0" marL="0">
              <a:buNone/>
            </a:pPr>
            <a:r>
              <a:rPr lang="en-US" sz="1400" b="1"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github.com/Saafalya/scholardesk-</a:t>
            </a:r>
            <a:endParaRPr lang="en-US" sz="1400" dirty="0"/>
          </a:p>
        </p:txBody>
      </p:sp>
    </p:spTree>
  </p:cSld>
  <p:clrMapOvr>
    <a:masterClrMapping/>
  </p:clrMapOvr>
</p:sld>
</file>

<file path=ppt/theme/theme1.xml><?xml version="1.0" encoding="utf-8"?>
<a:theme xmlns:a="http://schemas.openxmlformats.org/drawingml/2006/main" name="Scholarship Desk">
  <a:themeElements>
    <a:clrScheme name="Scholarship Desk">
      <a:dk1>
        <a:srgbClr val="1B2A41"/>
      </a:dk1>
      <a:lt1>
        <a:srgbClr val="FFFFFF"/>
      </a:lt1>
      <a:dk2>
        <a:srgbClr val="55627A"/>
      </a:dk2>
      <a:lt2>
        <a:srgbClr val="EEF1F5"/>
      </a:lt2>
      <a:accent1>
        <a:srgbClr val="1B2A41"/>
      </a:accent1>
      <a:accent2>
        <a:srgbClr val="2E7D4F"/>
      </a:accent2>
      <a:accent3>
        <a:srgbClr val="B3261E"/>
      </a:accent3>
      <a:accent4>
        <a:srgbClr val="A5640C"/>
      </a:accent4>
      <a:accent5>
        <a:srgbClr val="C9D2DE"/>
      </a:accent5>
      <a:accent6>
        <a:srgbClr val="7FA3D6"/>
      </a:accent6>
      <a:hlink>
        <a:srgbClr val="2E5E9E"/>
      </a:hlink>
      <a:folHlink>
        <a:srgbClr val="55627A"/>
      </a:folHlink>
    </a:clrScheme>
    <a:fontScheme name="Scholarship Des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Scholarship Screening Desk — CA-3 Agentic AI PoC</dc:title>
  <dc:subject>PptxGenJS Presentation</dc:subject>
  <dc:creator>Saafalya Sengupta</dc:creator>
  <cp:lastModifiedBy>Saafalya Sengupta</cp:lastModifiedBy>
  <cp:revision>1</cp:revision>
  <dcterms:created xsi:type="dcterms:W3CDTF">2026-10-24T06:07:34Z</dcterms:created>
  <dcterms:modified xsi:type="dcterms:W3CDTF">2026-10-24T06:07:34Z</dcterms:modified>
</cp:coreProperties>
</file>